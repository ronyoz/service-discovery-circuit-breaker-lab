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61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2161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61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2161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7706"/>
                </a:solidFill>
                <a:latin typeface="IBM Plex Sans" pitchFamily="34" charset="0"/>
                <a:ea typeface="IBM Plex Sans" pitchFamily="34" charset="-122"/>
                <a:cs typeface="IBM Plex Sans" pitchFamily="34" charset="-120"/>
              </a:rPr>
              <a:t>UNIVERSIDAD ICESI · DESARROLLO DE MICROSERVICIOS</a:t>
            </a:r>
            <a:endParaRPr lang="en-US" sz="1200" dirty="0"/>
          </a:p>
        </p:txBody>
      </p:sp>
      <p:sp>
        <p:nvSpPr>
          <p:cNvPr id="3" name="Text 1"/>
          <p:cNvSpPr/>
          <p:nvPr>
            <p:ph type="title"/>
          </p:nvPr>
        </p:nvSpPr>
        <p:spPr>
          <a:xfrm>
            <a:off x="812800" y="1178520"/>
            <a:ext cx="9025890" cy="1358900"/>
          </a:xfrm>
          <a:prstGeom prst="rect">
            <a:avLst/>
          </a:prstGeom>
          <a:noFill/>
          <a:ln/>
        </p:spPr>
        <p:txBody>
          <a:bodyPr wrap="square" lIns="0" tIns="0" rIns="0" bIns="0" rtlCol="0" anchor="t">
            <a:normAutofit/>
          </a:bodyPr>
          <a:lstStyle/>
          <a:p>
            <a:pPr algn="l" indent="0" marL="0">
              <a:lnSpc>
                <a:spcPts val="5250"/>
              </a:lnSpc>
              <a:buNone/>
            </a:pPr>
            <a:r>
              <a:rPr lang="en-US" sz="5000" b="1" i="0" dirty="0">
                <a:solidFill>
                  <a:srgbClr val="F7F7F4"/>
                </a:solidFill>
                <a:latin typeface="IBM Plex Sans" pitchFamily="34" charset="0"/>
                <a:ea typeface="IBM Plex Sans" pitchFamily="34" charset="-122"/>
                <a:cs typeface="IBM Plex Sans" pitchFamily="34" charset="-120"/>
              </a:rPr>
              <a:t>Service Discovery y Circuit Breaker</a:t>
            </a:r>
            <a:endParaRPr lang="en-US" sz="5000" dirty="0"/>
          </a:p>
        </p:txBody>
      </p:sp>
      <p:sp>
        <p:nvSpPr>
          <p:cNvPr id="4" name="Text 2"/>
          <p:cNvSpPr/>
          <p:nvPr/>
        </p:nvSpPr>
        <p:spPr>
          <a:xfrm>
            <a:off x="812800" y="2664420"/>
            <a:ext cx="78486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2CC"/>
                </a:solidFill>
                <a:latin typeface="IBM Plex Sans" pitchFamily="34" charset="0"/>
                <a:ea typeface="IBM Plex Sans" pitchFamily="34" charset="-122"/>
                <a:cs typeface="IBM Plex Sans" pitchFamily="34" charset="-120"/>
              </a:rPr>
              <a:t>Arquitectura resiliente para FutureX con Eureka y Resilience4j</a:t>
            </a:r>
            <a:endParaRPr lang="en-US" sz="1800" dirty="0"/>
          </a:p>
        </p:txBody>
      </p:sp>
      <p:sp>
        <p:nvSpPr>
          <p:cNvPr id="5" name="Text 3"/>
          <p:cNvSpPr/>
          <p:nvPr/>
        </p:nvSpPr>
        <p:spPr>
          <a:xfrm>
            <a:off x="812800" y="5831880"/>
            <a:ext cx="1879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26 de octubre de 2026</a:t>
            </a:r>
            <a:endParaRPr lang="en-US" sz="1200" dirty="0"/>
          </a:p>
        </p:txBody>
      </p:sp>
      <p:sp>
        <p:nvSpPr>
          <p:cNvPr id="6" name="Text 4"/>
          <p:cNvSpPr/>
          <p:nvPr/>
        </p:nvSpPr>
        <p:spPr>
          <a:xfrm>
            <a:off x="6586220" y="5831880"/>
            <a:ext cx="47929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fx-discovery-server · fx-course-service · fx-catalog-service</a:t>
            </a:r>
            <a:endParaRPr lang="en-US" sz="1200" dirty="0"/>
          </a:p>
        </p:txBody>
      </p:sp>
      <p:sp>
        <p:nvSpPr>
          <p:cNvPr id="7" name="Shape 5"/>
          <p:cNvSpPr/>
          <p:nvPr/>
        </p:nvSpPr>
        <p:spPr>
          <a:xfrm>
            <a:off x="9982200" y="812800"/>
            <a:ext cx="1397000" cy="1397000"/>
          </a:xfrm>
          <a:prstGeom prst="roundRect">
            <a:avLst>
              <a:gd name="adj" fmla="val 14545"/>
            </a:avLst>
          </a:prstGeom>
          <a:solidFill>
            <a:srgbClr val="1C2430"/>
          </a:solidFill>
          <a:ln/>
        </p:spPr>
      </p:sp>
      <p:pic>
        <p:nvPicPr>
          <p:cNvPr id="8" name="Image 0" descr="Lightning">    </p:cNvPr>
          <p:cNvPicPr>
            <a:picLocks noChangeAspect="1"/>
          </p:cNvPicPr>
          <p:nvPr/>
        </p:nvPicPr>
        <p:blipFill>
          <a:blip r:embed="rId1"/>
          <a:srcRect l="0" r="0" t="0" b="0"/>
          <a:stretch/>
        </p:blipFill>
        <p:spPr>
          <a:xfrm>
            <a:off x="10363200" y="1193800"/>
            <a:ext cx="635000" cy="63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61C"/>
                </a:solidFill>
                <a:latin typeface="IBM Plex Sans" pitchFamily="34" charset="0"/>
                <a:ea typeface="IBM Plex Sans" pitchFamily="34" charset="-122"/>
                <a:cs typeface="IBM Plex Sans" pitchFamily="34" charset="-120"/>
              </a:rPr>
              <a:t>Agenda</a:t>
            </a:r>
            <a:endParaRPr lang="en-US" sz="3200" dirty="0"/>
          </a:p>
        </p:txBody>
      </p:sp>
      <p:sp>
        <p:nvSpPr>
          <p:cNvPr id="3" name="Shape 1"/>
          <p:cNvSpPr/>
          <p:nvPr/>
        </p:nvSpPr>
        <p:spPr>
          <a:xfrm>
            <a:off x="815975" y="1618555"/>
            <a:ext cx="2482850" cy="1906091"/>
          </a:xfrm>
          <a:prstGeom prst="roundRect">
            <a:avLst>
              <a:gd name="adj" fmla="val 6496"/>
            </a:avLst>
          </a:prstGeom>
          <a:solidFill>
            <a:srgbClr val="FFFFFF"/>
          </a:solidFill>
          <a:ln w="6350">
            <a:solidFill>
              <a:srgbClr val="DCE0DA"/>
            </a:solidFill>
            <a:prstDash val="solid"/>
          </a:ln>
        </p:spPr>
      </p:sp>
      <p:pic>
        <p:nvPicPr>
          <p:cNvPr id="4" name="Image 0" descr="Globe">    </p:cNvPr>
          <p:cNvPicPr>
            <a:picLocks noChangeAspect="1"/>
          </p:cNvPicPr>
          <p:nvPr/>
        </p:nvPicPr>
        <p:blipFill>
          <a:blip r:embed="rId1"/>
          <a:srcRect l="0" r="0" t="0" b="0"/>
          <a:stretch/>
        </p:blipFill>
        <p:spPr>
          <a:xfrm>
            <a:off x="1073150" y="1875730"/>
            <a:ext cx="304800" cy="304800"/>
          </a:xfrm>
          <a:prstGeom prst="rect">
            <a:avLst/>
          </a:prstGeom>
        </p:spPr>
      </p:pic>
      <p:sp>
        <p:nvSpPr>
          <p:cNvPr id="5" name="Text 2"/>
          <p:cNvSpPr/>
          <p:nvPr/>
        </p:nvSpPr>
        <p:spPr>
          <a:xfrm>
            <a:off x="1073150" y="2282130"/>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61C"/>
                </a:solidFill>
                <a:latin typeface="IBM Plex Sans" pitchFamily="34" charset="0"/>
                <a:ea typeface="IBM Plex Sans" pitchFamily="34" charset="-122"/>
                <a:cs typeface="IBM Plex Sans" pitchFamily="34" charset="-120"/>
              </a:rPr>
              <a:t>1. Arquitectura</a:t>
            </a:r>
            <a:endParaRPr lang="en-US" sz="1600" dirty="0"/>
          </a:p>
        </p:txBody>
      </p:sp>
      <p:sp>
        <p:nvSpPr>
          <p:cNvPr id="6" name="Text 3"/>
          <p:cNvSpPr/>
          <p:nvPr/>
        </p:nvSpPr>
        <p:spPr>
          <a:xfrm>
            <a:off x="1073150" y="2627511"/>
            <a:ext cx="202755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Tres microservicios y Service Discovery con Eureka</a:t>
            </a:r>
            <a:endParaRPr lang="en-US" sz="1200" dirty="0"/>
          </a:p>
        </p:txBody>
      </p:sp>
      <p:sp>
        <p:nvSpPr>
          <p:cNvPr id="7" name="Shape 4"/>
          <p:cNvSpPr/>
          <p:nvPr/>
        </p:nvSpPr>
        <p:spPr>
          <a:xfrm>
            <a:off x="3508375" y="1618555"/>
            <a:ext cx="2482850" cy="1906091"/>
          </a:xfrm>
          <a:prstGeom prst="roundRect">
            <a:avLst>
              <a:gd name="adj" fmla="val 6496"/>
            </a:avLst>
          </a:prstGeom>
          <a:solidFill>
            <a:srgbClr val="FFFFFF"/>
          </a:solidFill>
          <a:ln w="6350">
            <a:solidFill>
              <a:srgbClr val="DCE0DA"/>
            </a:solidFill>
            <a:prstDash val="solid"/>
          </a:ln>
        </p:spPr>
      </p:sp>
      <p:pic>
        <p:nvPicPr>
          <p:cNvPr id="8" name="Image 1" descr="Warning">    </p:cNvPr>
          <p:cNvPicPr>
            <a:picLocks noChangeAspect="1"/>
          </p:cNvPicPr>
          <p:nvPr/>
        </p:nvPicPr>
        <p:blipFill>
          <a:blip r:embed="rId2"/>
          <a:srcRect l="0" r="0" t="0" b="0"/>
          <a:stretch/>
        </p:blipFill>
        <p:spPr>
          <a:xfrm>
            <a:off x="3765550" y="1875730"/>
            <a:ext cx="304800" cy="304800"/>
          </a:xfrm>
          <a:prstGeom prst="rect">
            <a:avLst/>
          </a:prstGeom>
        </p:spPr>
      </p:pic>
      <p:sp>
        <p:nvSpPr>
          <p:cNvPr id="9" name="Text 5"/>
          <p:cNvSpPr/>
          <p:nvPr/>
        </p:nvSpPr>
        <p:spPr>
          <a:xfrm>
            <a:off x="3765550" y="2282130"/>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61C"/>
                </a:solidFill>
                <a:latin typeface="IBM Plex Sans" pitchFamily="34" charset="0"/>
                <a:ea typeface="IBM Plex Sans" pitchFamily="34" charset="-122"/>
                <a:cs typeface="IBM Plex Sans" pitchFamily="34" charset="-120"/>
              </a:rPr>
              <a:t>2. El problema</a:t>
            </a:r>
            <a:endParaRPr lang="en-US" sz="1600" dirty="0"/>
          </a:p>
        </p:txBody>
      </p:sp>
      <p:sp>
        <p:nvSpPr>
          <p:cNvPr id="10" name="Text 6"/>
          <p:cNvSpPr/>
          <p:nvPr/>
        </p:nvSpPr>
        <p:spPr>
          <a:xfrm>
            <a:off x="3765550" y="2627511"/>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Fallas en cascada cuando course-service cae</a:t>
            </a:r>
            <a:endParaRPr lang="en-US" sz="1200" dirty="0"/>
          </a:p>
        </p:txBody>
      </p:sp>
      <p:sp>
        <p:nvSpPr>
          <p:cNvPr id="11" name="Shape 7"/>
          <p:cNvSpPr/>
          <p:nvPr/>
        </p:nvSpPr>
        <p:spPr>
          <a:xfrm>
            <a:off x="6200775" y="1618555"/>
            <a:ext cx="2482850" cy="1906091"/>
          </a:xfrm>
          <a:prstGeom prst="roundRect">
            <a:avLst>
              <a:gd name="adj" fmla="val 6496"/>
            </a:avLst>
          </a:prstGeom>
          <a:solidFill>
            <a:srgbClr val="FFFFFF"/>
          </a:solidFill>
          <a:ln w="6350">
            <a:solidFill>
              <a:srgbClr val="DCE0DA"/>
            </a:solidFill>
            <a:prstDash val="solid"/>
          </a:ln>
        </p:spPr>
      </p:sp>
      <p:pic>
        <p:nvPicPr>
          <p:cNvPr id="12" name="Image 2" descr="Tool">    </p:cNvPr>
          <p:cNvPicPr>
            <a:picLocks noChangeAspect="1"/>
          </p:cNvPicPr>
          <p:nvPr/>
        </p:nvPicPr>
        <p:blipFill>
          <a:blip r:embed="rId3"/>
          <a:srcRect l="0" r="0" t="0" b="0"/>
          <a:stretch/>
        </p:blipFill>
        <p:spPr>
          <a:xfrm>
            <a:off x="6457950" y="1875730"/>
            <a:ext cx="304800" cy="304800"/>
          </a:xfrm>
          <a:prstGeom prst="rect">
            <a:avLst/>
          </a:prstGeom>
        </p:spPr>
      </p:pic>
      <p:sp>
        <p:nvSpPr>
          <p:cNvPr id="13" name="Text 8"/>
          <p:cNvSpPr/>
          <p:nvPr/>
        </p:nvSpPr>
        <p:spPr>
          <a:xfrm>
            <a:off x="6457950" y="2282130"/>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61C"/>
                </a:solidFill>
                <a:latin typeface="IBM Plex Sans" pitchFamily="34" charset="0"/>
                <a:ea typeface="IBM Plex Sans" pitchFamily="34" charset="-122"/>
                <a:cs typeface="IBM Plex Sans" pitchFamily="34" charset="-120"/>
              </a:rPr>
              <a:t>3. La solución</a:t>
            </a:r>
            <a:endParaRPr lang="en-US" sz="1600" dirty="0"/>
          </a:p>
        </p:txBody>
      </p:sp>
      <p:sp>
        <p:nvSpPr>
          <p:cNvPr id="14" name="Text 9"/>
          <p:cNvSpPr/>
          <p:nvPr/>
        </p:nvSpPr>
        <p:spPr>
          <a:xfrm>
            <a:off x="6457950" y="2627511"/>
            <a:ext cx="202755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Cinco patrones de Resilience4j trabajando juntos</a:t>
            </a:r>
            <a:endParaRPr lang="en-US" sz="1200" dirty="0"/>
          </a:p>
        </p:txBody>
      </p:sp>
      <p:sp>
        <p:nvSpPr>
          <p:cNvPr id="15" name="Shape 10"/>
          <p:cNvSpPr/>
          <p:nvPr/>
        </p:nvSpPr>
        <p:spPr>
          <a:xfrm>
            <a:off x="8893175" y="1618555"/>
            <a:ext cx="2482850" cy="1906091"/>
          </a:xfrm>
          <a:prstGeom prst="roundRect">
            <a:avLst>
              <a:gd name="adj" fmla="val 6496"/>
            </a:avLst>
          </a:prstGeom>
          <a:solidFill>
            <a:srgbClr val="FFFFFF"/>
          </a:solidFill>
          <a:ln w="6350">
            <a:solidFill>
              <a:srgbClr val="DCE0DA"/>
            </a:solidFill>
            <a:prstDash val="solid"/>
          </a:ln>
        </p:spPr>
      </p:sp>
      <p:pic>
        <p:nvPicPr>
          <p:cNvPr id="16" name="Image 3" descr="Play">    </p:cNvPr>
          <p:cNvPicPr>
            <a:picLocks noChangeAspect="1"/>
          </p:cNvPicPr>
          <p:nvPr/>
        </p:nvPicPr>
        <p:blipFill>
          <a:blip r:embed="rId4"/>
          <a:srcRect l="0" r="0" t="0" b="0"/>
          <a:stretch/>
        </p:blipFill>
        <p:spPr>
          <a:xfrm>
            <a:off x="9150350" y="1875730"/>
            <a:ext cx="304800" cy="304800"/>
          </a:xfrm>
          <a:prstGeom prst="rect">
            <a:avLst/>
          </a:prstGeom>
        </p:spPr>
      </p:pic>
      <p:sp>
        <p:nvSpPr>
          <p:cNvPr id="17" name="Text 11"/>
          <p:cNvSpPr/>
          <p:nvPr/>
        </p:nvSpPr>
        <p:spPr>
          <a:xfrm>
            <a:off x="9150350" y="2282130"/>
            <a:ext cx="2027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61C"/>
                </a:solidFill>
                <a:latin typeface="IBM Plex Sans" pitchFamily="34" charset="0"/>
                <a:ea typeface="IBM Plex Sans" pitchFamily="34" charset="-122"/>
                <a:cs typeface="IBM Plex Sans" pitchFamily="34" charset="-120"/>
              </a:rPr>
              <a:t>4. Demo en vivo</a:t>
            </a:r>
            <a:endParaRPr lang="en-US" sz="1600" dirty="0"/>
          </a:p>
        </p:txBody>
      </p:sp>
      <p:sp>
        <p:nvSpPr>
          <p:cNvPr id="18" name="Text 12"/>
          <p:cNvSpPr/>
          <p:nvPr/>
        </p:nvSpPr>
        <p:spPr>
          <a:xfrm>
            <a:off x="9150350" y="2627511"/>
            <a:ext cx="202755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Evidencia medida y ejecución real con Docker y Postman</a:t>
            </a:r>
            <a:endParaRPr lang="en-US" sz="1200" dirty="0"/>
          </a:p>
        </p:txBody>
      </p:sp>
      <p:sp>
        <p:nvSpPr>
          <p:cNvPr id="19" name="Text 13"/>
          <p:cNvSpPr/>
          <p:nvPr/>
        </p:nvSpPr>
        <p:spPr>
          <a:xfrm>
            <a:off x="812800" y="6238280"/>
            <a:ext cx="36678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FutureX · Service Discovery &amp; Circuit Breaker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61C"/>
                </a:solidFill>
                <a:latin typeface="IBM Plex Sans" pitchFamily="34" charset="0"/>
                <a:ea typeface="IBM Plex Sans" pitchFamily="34" charset="-122"/>
                <a:cs typeface="IBM Plex Sans" pitchFamily="34" charset="-120"/>
              </a:rPr>
              <a:t>Tres microservicios Spring Boot</a:t>
            </a:r>
            <a:endParaRPr lang="en-US" sz="3200" dirty="0"/>
          </a:p>
        </p:txBody>
      </p:sp>
      <p:sp>
        <p:nvSpPr>
          <p:cNvPr id="3" name="Shape 1"/>
          <p:cNvSpPr/>
          <p:nvPr/>
        </p:nvSpPr>
        <p:spPr>
          <a:xfrm>
            <a:off x="812800" y="1564580"/>
            <a:ext cx="10566400" cy="1562894"/>
          </a:xfrm>
          <a:custGeom>
            <a:avLst/>
            <a:gdLst/>
            <a:ahLst/>
            <a:cxnLst/>
            <a:rect l="l" t="t" r="r" b="b"/>
            <a:pathLst>
              <a:path w="10566400" h="1562894">
                <a:moveTo>
                  <a:pt x="10464800" y="0"/>
                </a:moveTo>
                <a:lnTo>
                  <a:pt x="10464800" y="0"/>
                </a:lnTo>
                <a:arcTo hR="101600" wR="101600" stAng="16200000" swAng="5400000"/>
                <a:lnTo>
                  <a:pt x="10566400" y="1461294"/>
                </a:lnTo>
                <a:arcTo hR="101600" wR="101600" stAng="0" swAng="5400000"/>
                <a:lnTo>
                  <a:pt x="101600" y="1562894"/>
                </a:lnTo>
                <a:arcTo hR="101600" wR="101600" stAng="5400000" swAng="5400000"/>
                <a:lnTo>
                  <a:pt x="0" y="1461294"/>
                </a:lnTo>
                <a:arcTo hR="95250" wR="101600" stAng="10800000" swAng="-5400000"/>
                <a:lnTo>
                  <a:pt x="10464800" y="1556544"/>
                </a:lnTo>
                <a:arcTo hR="95250" wR="95250" stAng="5400000" swAng="-5400000"/>
                <a:lnTo>
                  <a:pt x="10560050" y="101600"/>
                </a:lnTo>
                <a:arcTo hR="101600" wR="95250" stAng="0" swAng="-5400000"/>
                <a:close/>
              </a:path>
            </a:pathLst>
          </a:custGeom>
          <a:solidFill>
            <a:srgbClr val="DCE0DA"/>
          </a:solidFill>
          <a:ln/>
        </p:spPr>
      </p:sp>
      <p:sp>
        <p:nvSpPr>
          <p:cNvPr id="4" name="Shape 2"/>
          <p:cNvSpPr/>
          <p:nvPr/>
        </p:nvSpPr>
        <p:spPr>
          <a:xfrm>
            <a:off x="812800" y="1564580"/>
            <a:ext cx="10566400" cy="1562894"/>
          </a:xfrm>
          <a:custGeom>
            <a:avLst/>
            <a:gdLst/>
            <a:ahLst/>
            <a:cxnLst/>
            <a:rect l="l" t="t" r="r" b="b"/>
            <a:pathLst>
              <a:path w="10566400" h="1562894">
                <a:moveTo>
                  <a:pt x="101600" y="1562894"/>
                </a:moveTo>
                <a:lnTo>
                  <a:pt x="101600" y="1562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1461294"/>
                </a:lnTo>
                <a:arcTo hR="101600" wR="88900" stAng="10800000" swAng="-5400000"/>
                <a:close/>
              </a:path>
            </a:pathLst>
          </a:custGeom>
          <a:solidFill>
            <a:srgbClr val="141413">
              <a:alpha val="22000"/>
            </a:srgbClr>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77280"/>
          <a:ext cx="10547350" cy="1543844"/>
        </p:xfrm>
        <a:graphic>
          <a:graphicData uri="http://schemas.openxmlformats.org/drawingml/2006/table">
            <a:tbl>
              <a:tblPr/>
              <a:tblGrid>
                <a:gridCol w="3164205"/>
                <a:gridCol w="1582102"/>
                <a:gridCol w="5801043"/>
              </a:tblGrid>
              <a:tr h="385961">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Servicio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Puerto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Rol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r>
              <a:tr h="385961">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fx-discovery-server</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8761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Servidor Eureka: el registro donde los servicios se anotan y se buscan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fx-course-service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8001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Proveedor: CRUD de cursos (JPA + H2 en memoria)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385961">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fx-catalog-service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2161C"/>
                          </a:solidFill>
                          <a:latin typeface="IBM Plex Sans" pitchFamily="34" charset="0"/>
                          <a:ea typeface="IBM Plex Sans" pitchFamily="34" charset="-122"/>
                          <a:cs typeface="IBM Plex Sans" pitchFamily="34" charset="-120"/>
                        </a:rPr>
                        <a:t>8002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Consumidor: arma el catálogo pidiendo cursos al servicio anterior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6" name="Shape 3"/>
          <p:cNvSpPr/>
          <p:nvPr/>
        </p:nvSpPr>
        <p:spPr>
          <a:xfrm>
            <a:off x="815975" y="3435449"/>
            <a:ext cx="10560050" cy="666750"/>
          </a:xfrm>
          <a:prstGeom prst="roundRect">
            <a:avLst>
              <a:gd name="adj" fmla="val 14762"/>
            </a:avLst>
          </a:prstGeom>
          <a:solidFill>
            <a:srgbClr val="FFFFFF"/>
          </a:solidFill>
          <a:ln w="6350">
            <a:solidFill>
              <a:srgbClr val="DCE0DA"/>
            </a:solidFill>
            <a:prstDash val="solid"/>
          </a:ln>
        </p:spPr>
      </p:sp>
      <p:pic>
        <p:nvPicPr>
          <p:cNvPr id="7" name="Image 0" descr="Database">    </p:cNvPr>
          <p:cNvPicPr>
            <a:picLocks noChangeAspect="1"/>
          </p:cNvPicPr>
          <p:nvPr/>
        </p:nvPicPr>
        <p:blipFill>
          <a:blip r:embed="rId1"/>
          <a:srcRect l="0" r="0" t="0" b="0"/>
          <a:stretch/>
        </p:blipFill>
        <p:spPr>
          <a:xfrm>
            <a:off x="1073150" y="3641824"/>
            <a:ext cx="254000" cy="254000"/>
          </a:xfrm>
          <a:prstGeom prst="rect">
            <a:avLst/>
          </a:prstGeom>
        </p:spPr>
      </p:pic>
      <p:sp>
        <p:nvSpPr>
          <p:cNvPr id="8" name="Text 4"/>
          <p:cNvSpPr/>
          <p:nvPr/>
        </p:nvSpPr>
        <p:spPr>
          <a:xfrm>
            <a:off x="1428750" y="3653234"/>
            <a:ext cx="80587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Cada servicio corre en su propio contenedor Docker, orquestado con docker-compose.yaml</a:t>
            </a:r>
            <a:endParaRPr lang="en-US" sz="1300" dirty="0"/>
          </a:p>
        </p:txBody>
      </p:sp>
      <p:sp>
        <p:nvSpPr>
          <p:cNvPr id="9" name="Text 5"/>
          <p:cNvSpPr/>
          <p:nvPr/>
        </p:nvSpPr>
        <p:spPr>
          <a:xfrm>
            <a:off x="812800" y="6238280"/>
            <a:ext cx="16850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Arquitectura · 1 de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61C"/>
                </a:solidFill>
                <a:latin typeface="IBM Plex Sans" pitchFamily="34" charset="0"/>
                <a:ea typeface="IBM Plex Sans" pitchFamily="34" charset="-122"/>
                <a:cs typeface="IBM Plex Sans" pitchFamily="34" charset="-120"/>
              </a:rPr>
              <a:t>¿Cómo se descubren los servicios?</a:t>
            </a:r>
            <a:endParaRPr lang="en-US" sz="3000" dirty="0"/>
          </a:p>
        </p:txBody>
      </p:sp>
      <p:sp>
        <p:nvSpPr>
          <p:cNvPr id="3" name="Text 1"/>
          <p:cNvSpPr/>
          <p:nvPr/>
        </p:nvSpPr>
        <p:spPr>
          <a:xfrm>
            <a:off x="4826000" y="1016000"/>
            <a:ext cx="2540000" cy="762000"/>
          </a:xfrm>
          <a:prstGeom prst="roundRect">
            <a:avLst>
              <a:gd name="adj" fmla="val 16667"/>
            </a:avLst>
          </a:prstGeom>
          <a:solidFill>
            <a:srgbClr val="2563EB"/>
          </a:solidFill>
          <a:ln/>
        </p:spPr>
        <p:txBody>
          <a:bodyPr wrap="square" lIns="135227" tIns="0" rIns="135326" bIns="0" rtlCol="0" anchor="ctr">
            <a:normAutofit/>
          </a:bodyPr>
          <a:lstStyle/>
          <a:p>
            <a:pPr algn="ct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Eureka</a:t>
            </a:r>
            <a:endParaRPr lang="en-US" sz="1400" dirty="0"/>
          </a:p>
          <a:p>
            <a:pPr algn="ct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fx-discovery-server :8761</a:t>
            </a:r>
            <a:endParaRPr lang="en-US" sz="1400" dirty="0"/>
          </a:p>
        </p:txBody>
      </p:sp>
      <p:sp>
        <p:nvSpPr>
          <p:cNvPr id="4" name="Text 2"/>
          <p:cNvSpPr/>
          <p:nvPr/>
        </p:nvSpPr>
        <p:spPr>
          <a:xfrm>
            <a:off x="1273175" y="4321175"/>
            <a:ext cx="2660650" cy="882650"/>
          </a:xfrm>
          <a:prstGeom prst="roundRect">
            <a:avLst>
              <a:gd name="adj" fmla="val 14029"/>
            </a:avLst>
          </a:prstGeom>
          <a:solidFill>
            <a:srgbClr val="ECEEE9"/>
          </a:solidFill>
          <a:ln w="6350">
            <a:solidFill>
              <a:srgbClr val="DCE0DA"/>
            </a:solidFill>
            <a:prstDash val="solid"/>
          </a:ln>
        </p:spPr>
        <p:txBody>
          <a:bodyPr wrap="square" lIns="546941" tIns="0" rIns="546941" bIns="0" rtlCol="0" anchor="ctr">
            <a:normAutofit/>
          </a:bodyPr>
          <a:lstStyle/>
          <a:p>
            <a:pPr algn="ctr" indent="0" marL="0">
              <a:lnSpc>
                <a:spcPts val="1960"/>
              </a:lnSpc>
              <a:buNone/>
            </a:pPr>
            <a:r>
              <a:rPr lang="en-US" sz="1400" b="1" dirty="0">
                <a:solidFill>
                  <a:srgbClr val="12161C"/>
                </a:solidFill>
                <a:latin typeface="IBM Plex Sans" pitchFamily="34" charset="0"/>
                <a:ea typeface="IBM Plex Sans" pitchFamily="34" charset="-122"/>
                <a:cs typeface="IBM Plex Sans" pitchFamily="34" charset="-120"/>
              </a:rPr>
              <a:t>fx-course-service</a:t>
            </a:r>
            <a:endParaRPr lang="en-US" sz="1400" dirty="0"/>
          </a:p>
          <a:p>
            <a:pPr algn="ctr" indent="0" marL="0">
              <a:lnSpc>
                <a:spcPts val="1960"/>
              </a:lnSpc>
              <a:buNone/>
            </a:pPr>
            <a:r>
              <a:rPr lang="en-US" sz="1400" b="1" dirty="0">
                <a:solidFill>
                  <a:srgbClr val="12161C"/>
                </a:solidFill>
                <a:latin typeface="IBM Plex Sans" pitchFamily="34" charset="0"/>
                <a:ea typeface="IBM Plex Sans" pitchFamily="34" charset="-122"/>
                <a:cs typeface="IBM Plex Sans" pitchFamily="34" charset="-120"/>
              </a:rPr>
              <a:t>:8001</a:t>
            </a:r>
            <a:endParaRPr lang="en-US" sz="1400" dirty="0"/>
          </a:p>
        </p:txBody>
      </p:sp>
      <p:sp>
        <p:nvSpPr>
          <p:cNvPr id="5" name="Text 3"/>
          <p:cNvSpPr/>
          <p:nvPr/>
        </p:nvSpPr>
        <p:spPr>
          <a:xfrm>
            <a:off x="8258175" y="4321175"/>
            <a:ext cx="2660650" cy="882650"/>
          </a:xfrm>
          <a:prstGeom prst="roundRect">
            <a:avLst>
              <a:gd name="adj" fmla="val 14029"/>
            </a:avLst>
          </a:prstGeom>
          <a:solidFill>
            <a:srgbClr val="ECEEE9"/>
          </a:solidFill>
          <a:ln w="6350">
            <a:solidFill>
              <a:srgbClr val="DCE0DA"/>
            </a:solidFill>
            <a:prstDash val="solid"/>
          </a:ln>
        </p:spPr>
        <p:txBody>
          <a:bodyPr wrap="square" lIns="521640" tIns="0" rIns="521739" bIns="0" rtlCol="0" anchor="ctr">
            <a:normAutofit/>
          </a:bodyPr>
          <a:lstStyle/>
          <a:p>
            <a:pPr algn="ctr" indent="0" marL="0">
              <a:lnSpc>
                <a:spcPts val="1960"/>
              </a:lnSpc>
              <a:buNone/>
            </a:pPr>
            <a:r>
              <a:rPr lang="en-US" sz="1400" b="1" dirty="0">
                <a:solidFill>
                  <a:srgbClr val="12161C"/>
                </a:solidFill>
                <a:latin typeface="IBM Plex Sans" pitchFamily="34" charset="0"/>
                <a:ea typeface="IBM Plex Sans" pitchFamily="34" charset="-122"/>
                <a:cs typeface="IBM Plex Sans" pitchFamily="34" charset="-120"/>
              </a:rPr>
              <a:t>fx-catalog-service</a:t>
            </a:r>
            <a:endParaRPr lang="en-US" sz="1400" dirty="0"/>
          </a:p>
          <a:p>
            <a:pPr algn="ctr" indent="0" marL="0">
              <a:lnSpc>
                <a:spcPts val="1960"/>
              </a:lnSpc>
              <a:buNone/>
            </a:pPr>
            <a:r>
              <a:rPr lang="en-US" sz="1400" b="1" dirty="0">
                <a:solidFill>
                  <a:srgbClr val="12161C"/>
                </a:solidFill>
                <a:latin typeface="IBM Plex Sans" pitchFamily="34" charset="0"/>
                <a:ea typeface="IBM Plex Sans" pitchFamily="34" charset="-122"/>
                <a:cs typeface="IBM Plex Sans" pitchFamily="34" charset="-120"/>
              </a:rPr>
              <a:t>:8002</a:t>
            </a:r>
            <a:endParaRPr lang="en-US" sz="1400" dirty="0"/>
          </a:p>
        </p:txBody>
      </p:sp>
      <p:pic>
        <p:nvPicPr>
          <p:cNvPr id="6" name="Image 0" descr="connector">    </p:cNvPr>
          <p:cNvPicPr>
            <a:picLocks noChangeAspect="1"/>
          </p:cNvPicPr>
          <p:nvPr/>
        </p:nvPicPr>
        <p:blipFill>
          <a:blip r:embed="rId1"/>
          <a:srcRect l="0" r="0" t="0" b="0"/>
          <a:stretch/>
        </p:blipFill>
        <p:spPr>
          <a:xfrm>
            <a:off x="2552700" y="1727200"/>
            <a:ext cx="2959100" cy="2641600"/>
          </a:xfrm>
          <a:prstGeom prst="rect">
            <a:avLst/>
          </a:prstGeom>
        </p:spPr>
      </p:pic>
      <p:pic>
        <p:nvPicPr>
          <p:cNvPr id="7" name="Image 1" descr="connector">    </p:cNvPr>
          <p:cNvPicPr>
            <a:picLocks noChangeAspect="1"/>
          </p:cNvPicPr>
          <p:nvPr/>
        </p:nvPicPr>
        <p:blipFill>
          <a:blip r:embed="rId2"/>
          <a:srcRect l="0" r="0" t="0" b="0"/>
          <a:stretch/>
        </p:blipFill>
        <p:spPr>
          <a:xfrm>
            <a:off x="6680200" y="1727200"/>
            <a:ext cx="2959100" cy="2641600"/>
          </a:xfrm>
          <a:prstGeom prst="rect">
            <a:avLst/>
          </a:prstGeom>
        </p:spPr>
      </p:pic>
      <p:pic>
        <p:nvPicPr>
          <p:cNvPr id="8" name="Image 2" descr="connector">    </p:cNvPr>
          <p:cNvPicPr>
            <a:picLocks noChangeAspect="1"/>
          </p:cNvPicPr>
          <p:nvPr/>
        </p:nvPicPr>
        <p:blipFill>
          <a:blip r:embed="rId3"/>
          <a:srcRect l="0" r="0" t="0" b="0"/>
          <a:stretch/>
        </p:blipFill>
        <p:spPr>
          <a:xfrm>
            <a:off x="3886200" y="4711700"/>
            <a:ext cx="4419600" cy="101600"/>
          </a:xfrm>
          <a:prstGeom prst="rect">
            <a:avLst/>
          </a:prstGeom>
        </p:spPr>
      </p:pic>
      <p:sp>
        <p:nvSpPr>
          <p:cNvPr id="9" name="Text 4"/>
          <p:cNvSpPr/>
          <p:nvPr/>
        </p:nvSpPr>
        <p:spPr>
          <a:xfrm>
            <a:off x="2921000" y="27305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Registro al arrancar</a:t>
            </a:r>
            <a:endParaRPr lang="en-US" sz="1200" dirty="0"/>
          </a:p>
        </p:txBody>
      </p:sp>
      <p:sp>
        <p:nvSpPr>
          <p:cNvPr id="10" name="Text 5"/>
          <p:cNvSpPr/>
          <p:nvPr/>
        </p:nvSpPr>
        <p:spPr>
          <a:xfrm>
            <a:off x="6985000" y="27305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Registro al arrancar</a:t>
            </a:r>
            <a:endParaRPr lang="en-US" sz="1200" dirty="0"/>
          </a:p>
        </p:txBody>
      </p:sp>
      <p:sp>
        <p:nvSpPr>
          <p:cNvPr id="11" name="Text 6"/>
          <p:cNvSpPr/>
          <p:nvPr/>
        </p:nvSpPr>
        <p:spPr>
          <a:xfrm>
            <a:off x="5207000" y="48260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7706"/>
                </a:solidFill>
                <a:latin typeface="IBM Plex Sans" pitchFamily="34" charset="0"/>
                <a:ea typeface="IBM Plex Sans" pitchFamily="34" charset="-122"/>
                <a:cs typeface="IBM Plex Sans" pitchFamily="34" charset="-120"/>
              </a:rPr>
              <a:t>3. Llamada real (RestTemplate)</a:t>
            </a:r>
            <a:endParaRPr lang="en-US" sz="1200" dirty="0"/>
          </a:p>
        </p:txBody>
      </p:sp>
      <p:sp>
        <p:nvSpPr>
          <p:cNvPr id="12" name="Text 7"/>
          <p:cNvSpPr/>
          <p:nvPr/>
        </p:nvSpPr>
        <p:spPr>
          <a:xfrm>
            <a:off x="5080000" y="1905000"/>
            <a:ext cx="261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 Catalog consulta su caché local de Eureka (round-robin)</a:t>
            </a:r>
            <a:endParaRPr lang="en-US" sz="1200" dirty="0"/>
          </a:p>
        </p:txBody>
      </p:sp>
      <p:sp>
        <p:nvSpPr>
          <p:cNvPr id="13" name="Text 8"/>
          <p:cNvSpPr/>
          <p:nvPr/>
        </p:nvSpPr>
        <p:spPr>
          <a:xfrm>
            <a:off x="812800" y="6238280"/>
            <a:ext cx="21024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Service Discovery · 2 de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61C"/>
                </a:solidFill>
                <a:latin typeface="IBM Plex Sans" pitchFamily="34" charset="0"/>
                <a:ea typeface="IBM Plex Sans" pitchFamily="34" charset="-122"/>
                <a:cs typeface="IBM Plex Sans" pitchFamily="34" charset="-120"/>
              </a:rPr>
              <a:t>¿Por qué Eureka y no una URL fija?</a:t>
            </a:r>
            <a:endParaRPr lang="en-US" sz="3000" dirty="0"/>
          </a:p>
        </p:txBody>
      </p:sp>
      <p:sp>
        <p:nvSpPr>
          <p:cNvPr id="3" name="Shape 1"/>
          <p:cNvSpPr/>
          <p:nvPr/>
        </p:nvSpPr>
        <p:spPr>
          <a:xfrm>
            <a:off x="819150" y="1543050"/>
            <a:ext cx="5143500" cy="4292600"/>
          </a:xfrm>
          <a:prstGeom prst="roundRect">
            <a:avLst>
              <a:gd name="adj" fmla="val 2811"/>
            </a:avLst>
          </a:prstGeom>
          <a:solidFill>
            <a:srgbClr val="FFFFFF"/>
          </a:solidFill>
          <a:ln w="12700">
            <a:solidFill>
              <a:srgbClr val="D97706"/>
            </a:solidFill>
            <a:prstDash val="solid"/>
          </a:ln>
        </p:spPr>
      </p:sp>
      <p:pic>
        <p:nvPicPr>
          <p:cNvPr id="4" name="Image 0" descr="Warning">    </p:cNvPr>
          <p:cNvPicPr>
            <a:picLocks noChangeAspect="1"/>
          </p:cNvPicPr>
          <p:nvPr/>
        </p:nvPicPr>
        <p:blipFill>
          <a:blip r:embed="rId1"/>
          <a:srcRect l="0" r="0" t="0" b="0"/>
          <a:stretch/>
        </p:blipFill>
        <p:spPr>
          <a:xfrm>
            <a:off x="1130300" y="1864320"/>
            <a:ext cx="254000" cy="254000"/>
          </a:xfrm>
          <a:prstGeom prst="rect">
            <a:avLst/>
          </a:prstGeom>
        </p:spPr>
      </p:pic>
      <p:sp>
        <p:nvSpPr>
          <p:cNvPr id="5" name="Text 2"/>
          <p:cNvSpPr/>
          <p:nvPr/>
        </p:nvSpPr>
        <p:spPr>
          <a:xfrm>
            <a:off x="1485900" y="1854200"/>
            <a:ext cx="9785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61C"/>
                </a:solidFill>
                <a:latin typeface="IBM Plex Sans" pitchFamily="34" charset="0"/>
                <a:ea typeface="IBM Plex Sans" pitchFamily="34" charset="-122"/>
                <a:cs typeface="IBM Plex Sans" pitchFamily="34" charset="-120"/>
              </a:rPr>
              <a:t>URL fija</a:t>
            </a:r>
            <a:endParaRPr lang="en-US" sz="1800" dirty="0"/>
          </a:p>
        </p:txBody>
      </p:sp>
      <p:sp>
        <p:nvSpPr>
          <p:cNvPr id="6" name="Text 3"/>
          <p:cNvSpPr/>
          <p:nvPr/>
        </p:nvSpPr>
        <p:spPr>
          <a:xfrm>
            <a:off x="1215644" y="2280841"/>
            <a:ext cx="4563872" cy="10160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Si course cambia de host o puerto, hay que recompilar el catálogo</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Solo funciona con una instancia</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No sabe si el destino sigue vivo</a:t>
            </a:r>
            <a:endParaRPr lang="en-US" sz="1300" dirty="0"/>
          </a:p>
        </p:txBody>
      </p:sp>
      <p:sp>
        <p:nvSpPr>
          <p:cNvPr id="7" name="Shape 4"/>
          <p:cNvSpPr/>
          <p:nvPr/>
        </p:nvSpPr>
        <p:spPr>
          <a:xfrm>
            <a:off x="6229350" y="1543050"/>
            <a:ext cx="5143500" cy="4292600"/>
          </a:xfrm>
          <a:prstGeom prst="roundRect">
            <a:avLst>
              <a:gd name="adj" fmla="val 2811"/>
            </a:avLst>
          </a:prstGeom>
          <a:solidFill>
            <a:srgbClr val="FFFFFF"/>
          </a:solidFill>
          <a:ln w="12700">
            <a:solidFill>
              <a:srgbClr val="2563EB"/>
            </a:solidFill>
            <a:prstDash val="solid"/>
          </a:ln>
        </p:spPr>
      </p:sp>
      <p:pic>
        <p:nvPicPr>
          <p:cNvPr id="8" name="Image 1" descr="Check">    </p:cNvPr>
          <p:cNvPicPr>
            <a:picLocks noChangeAspect="1"/>
          </p:cNvPicPr>
          <p:nvPr/>
        </p:nvPicPr>
        <p:blipFill>
          <a:blip r:embed="rId2"/>
          <a:srcRect l="0" r="0" t="0" b="0"/>
          <a:stretch/>
        </p:blipFill>
        <p:spPr>
          <a:xfrm>
            <a:off x="6540500" y="1864320"/>
            <a:ext cx="254000" cy="254000"/>
          </a:xfrm>
          <a:prstGeom prst="rect">
            <a:avLst/>
          </a:prstGeom>
        </p:spPr>
      </p:pic>
      <p:sp>
        <p:nvSpPr>
          <p:cNvPr id="9" name="Text 5"/>
          <p:cNvSpPr/>
          <p:nvPr/>
        </p:nvSpPr>
        <p:spPr>
          <a:xfrm>
            <a:off x="6896100" y="1854200"/>
            <a:ext cx="14491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61C"/>
                </a:solidFill>
                <a:latin typeface="IBM Plex Sans" pitchFamily="34" charset="0"/>
                <a:ea typeface="IBM Plex Sans" pitchFamily="34" charset="-122"/>
                <a:cs typeface="IBM Plex Sans" pitchFamily="34" charset="-120"/>
              </a:rPr>
              <a:t>Con Eureka</a:t>
            </a:r>
            <a:endParaRPr lang="en-US" sz="1800" dirty="0"/>
          </a:p>
        </p:txBody>
      </p:sp>
      <p:sp>
        <p:nvSpPr>
          <p:cNvPr id="10" name="Text 6"/>
          <p:cNvSpPr/>
          <p:nvPr/>
        </p:nvSpPr>
        <p:spPr>
          <a:xfrm>
            <a:off x="6625844" y="2280841"/>
            <a:ext cx="4563872"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El catálogo solo conoce el nombre lógico: “fx-course-service”</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Varias instancias con round-robin automático</a:t>
            </a:r>
            <a:endParaRPr lang="en-US" sz="1300" dirty="0"/>
          </a:p>
          <a:p>
            <a:pPr algn="l" marL="168656" indent="-168656">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Eureka retira las instancias que dejan de mandar heartbeat</a:t>
            </a:r>
            <a:endParaRPr lang="en-US" sz="1300" dirty="0"/>
          </a:p>
        </p:txBody>
      </p:sp>
      <p:sp>
        <p:nvSpPr>
          <p:cNvPr id="11" name="Text 7"/>
          <p:cNvSpPr/>
          <p:nvPr/>
        </p:nvSpPr>
        <p:spPr>
          <a:xfrm>
            <a:off x="812800" y="6238280"/>
            <a:ext cx="21024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Service Discovery · 3 de 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7F7F4"/>
                </a:solidFill>
                <a:latin typeface="IBM Plex Sans" pitchFamily="34" charset="0"/>
                <a:ea typeface="IBM Plex Sans" pitchFamily="34" charset="-122"/>
                <a:cs typeface="IBM Plex Sans" pitchFamily="34" charset="-120"/>
              </a:rPr>
              <a:t>El problema: course-service se cae</a:t>
            </a:r>
            <a:endParaRPr lang="en-US" sz="3000" dirty="0"/>
          </a:p>
        </p:txBody>
      </p:sp>
      <p:sp>
        <p:nvSpPr>
          <p:cNvPr id="3" name="Text 1"/>
          <p:cNvSpPr/>
          <p:nvPr/>
        </p:nvSpPr>
        <p:spPr>
          <a:xfrm>
            <a:off x="812800" y="2254349"/>
            <a:ext cx="7684056"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D97706"/>
                </a:solidFill>
                <a:latin typeface="IBM Plex Sans" pitchFamily="34" charset="0"/>
                <a:ea typeface="IBM Plex Sans" pitchFamily="34" charset="-122"/>
                <a:cs typeface="IBM Plex Sans" pitchFamily="34" charset="-120"/>
              </a:rPr>
              <a:t>fx-catalog-service responde HTTP 500</a:t>
            </a:r>
            <a:endParaRPr lang="en-US" sz="2800" dirty="0"/>
          </a:p>
        </p:txBody>
      </p:sp>
      <p:sp>
        <p:nvSpPr>
          <p:cNvPr id="4" name="Text 2"/>
          <p:cNvSpPr/>
          <p:nvPr/>
        </p:nvSpPr>
        <p:spPr>
          <a:xfrm>
            <a:off x="815975" y="2958505"/>
            <a:ext cx="4774009" cy="908050"/>
          </a:xfrm>
          <a:prstGeom prst="roundRect">
            <a:avLst>
              <a:gd name="adj" fmla="val 10839"/>
            </a:avLst>
          </a:prstGeom>
          <a:solidFill>
            <a:srgbClr val="1C2430"/>
          </a:solidFill>
          <a:ln w="6350">
            <a:solidFill>
              <a:srgbClr val="2A3341"/>
            </a:solidFill>
            <a:prstDash val="solid"/>
          </a:ln>
        </p:spPr>
        <p:txBody>
          <a:bodyPr wrap="square" lIns="228347" tIns="177547" rIns="100558" bIns="152147" rtlCol="0" anchor="t">
            <a:normAutofit/>
          </a:bodyPr>
          <a:lstStyle/>
          <a:p>
            <a:pPr algn="l" indent="0" marL="0">
              <a:lnSpc>
                <a:spcPts val="1950"/>
              </a:lnSpc>
              <a:buNone/>
            </a:pPr>
            <a:r>
              <a:rPr lang="en-US" sz="1300" dirty="0">
                <a:solidFill>
                  <a:srgbClr val="F7F7F4"/>
                </a:solidFill>
                <a:latin typeface="JetBrains Mono" pitchFamily="49" charset="0"/>
                <a:ea typeface="JetBrains Mono" pitchFamily="49" charset="-122"/>
                <a:cs typeface="JetBrains Mono" pitchFamily="49" charset="-120"/>
              </a:rPr>
              <a:t>GET /catalog → 500</a:t>
            </a:r>
            <a:endParaRPr lang="en-US" sz="1300" dirty="0"/>
          </a:p>
          <a:p>
            <a:pPr algn="l" indent="0" marL="0">
              <a:lnSpc>
                <a:spcPts val="1950"/>
              </a:lnSpc>
              <a:buNone/>
            </a:pPr>
            <a:r>
              <a:rPr lang="en-US" sz="1300" dirty="0">
                <a:solidFill>
                  <a:srgbClr val="F7F7F4"/>
                </a:solidFill>
                <a:latin typeface="JetBrains Mono" pitchFamily="49" charset="0"/>
                <a:ea typeface="JetBrains Mono" pitchFamily="49" charset="-122"/>
                <a:cs typeface="JetBrains Mono" pitchFamily="49" charset="-120"/>
              </a:rPr>
              <a:t>ResourceAccessException: Connection refused</a:t>
            </a:r>
            <a:endParaRPr lang="en-US" sz="1300" dirty="0"/>
          </a:p>
        </p:txBody>
      </p:sp>
      <p:sp>
        <p:nvSpPr>
          <p:cNvPr id="5" name="Text 3"/>
          <p:cNvSpPr/>
          <p:nvPr/>
        </p:nvSpPr>
        <p:spPr>
          <a:xfrm>
            <a:off x="812800" y="4072930"/>
            <a:ext cx="91567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9C2CC"/>
                </a:solidFill>
                <a:latin typeface="IBM Plex Sans" pitchFamily="34" charset="0"/>
                <a:ea typeface="IBM Plex Sans" pitchFamily="34" charset="-122"/>
                <a:cs typeface="IBM Plex Sans" pitchFamily="34" charset="-120"/>
              </a:rPr>
              <a:t>Sin timeout, reintento ni fallback: cada request sigue intentando conectarse a un servicio muerto. En un sistema con muchos consumidores, eso agota hilos y conexiones — </a:t>
            </a:r>
            <a:r>
              <a:rPr lang="en-US" sz="1400" b="1" dirty="0">
                <a:solidFill>
                  <a:srgbClr val="B9C2CC"/>
                </a:solidFill>
                <a:latin typeface="IBM Plex Sans" pitchFamily="34" charset="0"/>
                <a:ea typeface="IBM Plex Sans" pitchFamily="34" charset="-122"/>
                <a:cs typeface="IBM Plex Sans" pitchFamily="34" charset="-120"/>
              </a:rPr>
              <a:t>falla en cascada</a:t>
            </a:r>
            <a:r>
              <a:rPr lang="en-US" sz="1400" dirty="0">
                <a:solidFill>
                  <a:srgbClr val="B9C2CC"/>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El problema (viene de la Parte 1) · 4 de 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051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12161C"/>
                </a:solidFill>
                <a:latin typeface="IBM Plex Sans" pitchFamily="34" charset="0"/>
                <a:ea typeface="IBM Plex Sans" pitchFamily="34" charset="-122"/>
                <a:cs typeface="IBM Plex Sans" pitchFamily="34" charset="-120"/>
              </a:rPr>
              <a:t>La solución: cadena de resiliencia</a:t>
            </a:r>
            <a:endParaRPr lang="en-US" sz="2900" dirty="0"/>
          </a:p>
        </p:txBody>
      </p:sp>
      <p:sp>
        <p:nvSpPr>
          <p:cNvPr id="3" name="Text 1"/>
          <p:cNvSpPr/>
          <p:nvPr/>
        </p:nvSpPr>
        <p:spPr>
          <a:xfrm>
            <a:off x="812800" y="147191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97706"/>
                </a:solidFill>
                <a:latin typeface="IBM Plex Sans" pitchFamily="34" charset="0"/>
                <a:ea typeface="IBM Plex Sans" pitchFamily="34" charset="-122"/>
                <a:cs typeface="IBM Plex Sans" pitchFamily="34" charset="-120"/>
              </a:rPr>
              <a:t>COURSE CAÍDO</a:t>
            </a:r>
            <a:endParaRPr lang="en-US" sz="1200" dirty="0"/>
          </a:p>
        </p:txBody>
      </p:sp>
      <p:sp>
        <p:nvSpPr>
          <p:cNvPr id="4" name="Shape 2"/>
          <p:cNvSpPr/>
          <p:nvPr/>
        </p:nvSpPr>
        <p:spPr>
          <a:xfrm>
            <a:off x="812800" y="1786830"/>
            <a:ext cx="5003800" cy="1145480"/>
          </a:xfrm>
          <a:prstGeom prst="roundRect">
            <a:avLst>
              <a:gd name="adj" fmla="val 8870"/>
            </a:avLst>
          </a:prstGeom>
          <a:solidFill>
            <a:srgbClr val="ECEEE9"/>
          </a:solidFill>
          <a:ln/>
        </p:spPr>
      </p:sp>
      <p:pic>
        <p:nvPicPr>
          <p:cNvPr id="5" name="Image 0" descr="Tool">    </p:cNvPr>
          <p:cNvPicPr>
            <a:picLocks noChangeAspect="1"/>
          </p:cNvPicPr>
          <p:nvPr/>
        </p:nvPicPr>
        <p:blipFill>
          <a:blip r:embed="rId1"/>
          <a:srcRect l="0" r="0" t="0" b="0"/>
          <a:stretch/>
        </p:blipFill>
        <p:spPr>
          <a:xfrm>
            <a:off x="3200400" y="1964630"/>
            <a:ext cx="228600" cy="228600"/>
          </a:xfrm>
          <a:prstGeom prst="rect">
            <a:avLst/>
          </a:prstGeom>
        </p:spPr>
      </p:pic>
      <p:sp>
        <p:nvSpPr>
          <p:cNvPr id="6" name="Text 3"/>
          <p:cNvSpPr/>
          <p:nvPr/>
        </p:nvSpPr>
        <p:spPr>
          <a:xfrm>
            <a:off x="3047296" y="2269430"/>
            <a:ext cx="534710"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2161C"/>
                </a:solidFill>
                <a:latin typeface="IBM Plex Sans" pitchFamily="34" charset="0"/>
                <a:ea typeface="IBM Plex Sans" pitchFamily="34" charset="-122"/>
                <a:cs typeface="IBM Plex Sans" pitchFamily="34" charset="-120"/>
              </a:rPr>
              <a:t>Retry</a:t>
            </a:r>
            <a:endParaRPr lang="en-US" sz="1400" dirty="0"/>
          </a:p>
        </p:txBody>
      </p:sp>
      <p:sp>
        <p:nvSpPr>
          <p:cNvPr id="7" name="Text 4"/>
          <p:cNvSpPr/>
          <p:nvPr/>
        </p:nvSpPr>
        <p:spPr>
          <a:xfrm>
            <a:off x="2629386" y="2558951"/>
            <a:ext cx="1370528"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3 intentos, 500ms</a:t>
            </a:r>
            <a:endParaRPr lang="en-US" sz="1100" dirty="0"/>
          </a:p>
        </p:txBody>
      </p:sp>
      <p:sp>
        <p:nvSpPr>
          <p:cNvPr id="8" name="Text 5"/>
          <p:cNvSpPr/>
          <p:nvPr/>
        </p:nvSpPr>
        <p:spPr>
          <a:xfrm>
            <a:off x="5969000" y="2181721"/>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E0DA"/>
                </a:solidFill>
                <a:latin typeface="IBM Plex Sans" pitchFamily="34" charset="0"/>
                <a:ea typeface="IBM Plex Sans" pitchFamily="34" charset="-122"/>
                <a:cs typeface="IBM Plex Sans" pitchFamily="34" charset="-120"/>
              </a:rPr>
              <a:t>→</a:t>
            </a:r>
            <a:endParaRPr lang="en-US" sz="2000" dirty="0"/>
          </a:p>
        </p:txBody>
      </p:sp>
      <p:sp>
        <p:nvSpPr>
          <p:cNvPr id="9" name="Shape 6"/>
          <p:cNvSpPr/>
          <p:nvPr/>
        </p:nvSpPr>
        <p:spPr>
          <a:xfrm>
            <a:off x="6375400" y="1786830"/>
            <a:ext cx="5003800" cy="1145480"/>
          </a:xfrm>
          <a:prstGeom prst="roundRect">
            <a:avLst>
              <a:gd name="adj" fmla="val 8870"/>
            </a:avLst>
          </a:prstGeom>
          <a:solidFill>
            <a:srgbClr val="ECEEE9"/>
          </a:solidFill>
          <a:ln/>
        </p:spPr>
      </p:sp>
      <p:pic>
        <p:nvPicPr>
          <p:cNvPr id="10" name="Image 1" descr="Lightning">    </p:cNvPr>
          <p:cNvPicPr>
            <a:picLocks noChangeAspect="1"/>
          </p:cNvPicPr>
          <p:nvPr/>
        </p:nvPicPr>
        <p:blipFill>
          <a:blip r:embed="rId2"/>
          <a:srcRect l="0" r="0" t="0" b="0"/>
          <a:stretch/>
        </p:blipFill>
        <p:spPr>
          <a:xfrm>
            <a:off x="8763000" y="1964630"/>
            <a:ext cx="228600" cy="228600"/>
          </a:xfrm>
          <a:prstGeom prst="rect">
            <a:avLst/>
          </a:prstGeom>
        </p:spPr>
      </p:pic>
      <p:sp>
        <p:nvSpPr>
          <p:cNvPr id="11" name="Text 7"/>
          <p:cNvSpPr/>
          <p:nvPr/>
        </p:nvSpPr>
        <p:spPr>
          <a:xfrm>
            <a:off x="8136027" y="2269430"/>
            <a:ext cx="1482447"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2161C"/>
                </a:solidFill>
                <a:latin typeface="IBM Plex Sans" pitchFamily="34" charset="0"/>
                <a:ea typeface="IBM Plex Sans" pitchFamily="34" charset="-122"/>
                <a:cs typeface="IBM Plex Sans" pitchFamily="34" charset="-120"/>
              </a:rPr>
              <a:t>Circuit Breaker</a:t>
            </a:r>
            <a:endParaRPr lang="en-US" sz="1400" dirty="0"/>
          </a:p>
        </p:txBody>
      </p:sp>
      <p:sp>
        <p:nvSpPr>
          <p:cNvPr id="12" name="Text 8"/>
          <p:cNvSpPr/>
          <p:nvPr/>
        </p:nvSpPr>
        <p:spPr>
          <a:xfrm>
            <a:off x="8176141" y="2558951"/>
            <a:ext cx="1402318"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corta si ≥50% falla</a:t>
            </a:r>
            <a:endParaRPr lang="en-US" sz="1100" dirty="0"/>
          </a:p>
        </p:txBody>
      </p:sp>
      <p:sp>
        <p:nvSpPr>
          <p:cNvPr id="13" name="Text 9"/>
          <p:cNvSpPr/>
          <p:nvPr/>
        </p:nvSpPr>
        <p:spPr>
          <a:xfrm>
            <a:off x="812800" y="318631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97706"/>
                </a:solidFill>
                <a:latin typeface="IBM Plex Sans" pitchFamily="34" charset="0"/>
                <a:ea typeface="IBM Plex Sans" pitchFamily="34" charset="-122"/>
                <a:cs typeface="IBM Plex Sans" pitchFamily="34" charset="-120"/>
              </a:rPr>
              <a:t>COURSE LENTO O SATURADO</a:t>
            </a:r>
            <a:endParaRPr lang="en-US" sz="1200" dirty="0"/>
          </a:p>
        </p:txBody>
      </p:sp>
      <p:sp>
        <p:nvSpPr>
          <p:cNvPr id="14" name="Shape 10"/>
          <p:cNvSpPr/>
          <p:nvPr/>
        </p:nvSpPr>
        <p:spPr>
          <a:xfrm>
            <a:off x="812800" y="3501231"/>
            <a:ext cx="3149600" cy="1145480"/>
          </a:xfrm>
          <a:prstGeom prst="roundRect">
            <a:avLst>
              <a:gd name="adj" fmla="val 8870"/>
            </a:avLst>
          </a:prstGeom>
          <a:solidFill>
            <a:srgbClr val="ECEEE9"/>
          </a:solidFill>
          <a:ln/>
        </p:spPr>
      </p:sp>
      <p:pic>
        <p:nvPicPr>
          <p:cNvPr id="15" name="Image 2" descr="Activity">    </p:cNvPr>
          <p:cNvPicPr>
            <a:picLocks noChangeAspect="1"/>
          </p:cNvPicPr>
          <p:nvPr/>
        </p:nvPicPr>
        <p:blipFill>
          <a:blip r:embed="rId3"/>
          <a:srcRect l="0" r="0" t="0" b="0"/>
          <a:stretch/>
        </p:blipFill>
        <p:spPr>
          <a:xfrm>
            <a:off x="2273300" y="3679031"/>
            <a:ext cx="228600" cy="228600"/>
          </a:xfrm>
          <a:prstGeom prst="rect">
            <a:avLst/>
          </a:prstGeom>
        </p:spPr>
      </p:pic>
      <p:sp>
        <p:nvSpPr>
          <p:cNvPr id="16" name="Text 11"/>
          <p:cNvSpPr/>
          <p:nvPr/>
        </p:nvSpPr>
        <p:spPr>
          <a:xfrm>
            <a:off x="1809681" y="3983831"/>
            <a:ext cx="1155740"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2161C"/>
                </a:solidFill>
                <a:latin typeface="IBM Plex Sans" pitchFamily="34" charset="0"/>
                <a:ea typeface="IBM Plex Sans" pitchFamily="34" charset="-122"/>
                <a:cs typeface="IBM Plex Sans" pitchFamily="34" charset="-120"/>
              </a:rPr>
              <a:t>RateLimiter</a:t>
            </a:r>
            <a:endParaRPr lang="en-US" sz="1400" dirty="0"/>
          </a:p>
        </p:txBody>
      </p:sp>
      <p:sp>
        <p:nvSpPr>
          <p:cNvPr id="17" name="Text 12"/>
          <p:cNvSpPr/>
          <p:nvPr/>
        </p:nvSpPr>
        <p:spPr>
          <a:xfrm>
            <a:off x="1699429" y="4273352"/>
            <a:ext cx="137624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máx. 5 llamadas/s</a:t>
            </a:r>
            <a:endParaRPr lang="en-US" sz="1100" dirty="0"/>
          </a:p>
        </p:txBody>
      </p:sp>
      <p:sp>
        <p:nvSpPr>
          <p:cNvPr id="18" name="Text 13"/>
          <p:cNvSpPr/>
          <p:nvPr/>
        </p:nvSpPr>
        <p:spPr>
          <a:xfrm>
            <a:off x="4114800" y="3896122"/>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E0DA"/>
                </a:solidFill>
                <a:latin typeface="IBM Plex Sans" pitchFamily="34" charset="0"/>
                <a:ea typeface="IBM Plex Sans" pitchFamily="34" charset="-122"/>
                <a:cs typeface="IBM Plex Sans" pitchFamily="34" charset="-120"/>
              </a:rPr>
              <a:t>→</a:t>
            </a:r>
            <a:endParaRPr lang="en-US" sz="2000" dirty="0"/>
          </a:p>
        </p:txBody>
      </p:sp>
      <p:sp>
        <p:nvSpPr>
          <p:cNvPr id="19" name="Shape 14"/>
          <p:cNvSpPr/>
          <p:nvPr/>
        </p:nvSpPr>
        <p:spPr>
          <a:xfrm>
            <a:off x="4521200" y="3501231"/>
            <a:ext cx="3149600" cy="1145480"/>
          </a:xfrm>
          <a:prstGeom prst="roundRect">
            <a:avLst>
              <a:gd name="adj" fmla="val 8870"/>
            </a:avLst>
          </a:prstGeom>
          <a:solidFill>
            <a:srgbClr val="ECEEE9"/>
          </a:solidFill>
          <a:ln/>
        </p:spPr>
      </p:sp>
      <p:pic>
        <p:nvPicPr>
          <p:cNvPr id="20" name="Image 3" descr="Clock">    </p:cNvPr>
          <p:cNvPicPr>
            <a:picLocks noChangeAspect="1"/>
          </p:cNvPicPr>
          <p:nvPr/>
        </p:nvPicPr>
        <p:blipFill>
          <a:blip r:embed="rId4"/>
          <a:srcRect l="0" r="0" t="0" b="0"/>
          <a:stretch/>
        </p:blipFill>
        <p:spPr>
          <a:xfrm>
            <a:off x="5981700" y="3679031"/>
            <a:ext cx="228600" cy="228600"/>
          </a:xfrm>
          <a:prstGeom prst="rect">
            <a:avLst/>
          </a:prstGeom>
        </p:spPr>
      </p:pic>
      <p:sp>
        <p:nvSpPr>
          <p:cNvPr id="21" name="Text 15"/>
          <p:cNvSpPr/>
          <p:nvPr/>
        </p:nvSpPr>
        <p:spPr>
          <a:xfrm>
            <a:off x="5500568" y="3983831"/>
            <a:ext cx="1190863"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2161C"/>
                </a:solidFill>
                <a:latin typeface="IBM Plex Sans" pitchFamily="34" charset="0"/>
                <a:ea typeface="IBM Plex Sans" pitchFamily="34" charset="-122"/>
                <a:cs typeface="IBM Plex Sans" pitchFamily="34" charset="-120"/>
              </a:rPr>
              <a:t>TimeLimiter</a:t>
            </a:r>
            <a:endParaRPr lang="en-US" sz="1400" dirty="0"/>
          </a:p>
        </p:txBody>
      </p:sp>
      <p:sp>
        <p:nvSpPr>
          <p:cNvPr id="22" name="Text 16"/>
          <p:cNvSpPr/>
          <p:nvPr/>
        </p:nvSpPr>
        <p:spPr>
          <a:xfrm>
            <a:off x="5596295" y="4273352"/>
            <a:ext cx="999411"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corta a los 2s</a:t>
            </a:r>
            <a:endParaRPr lang="en-US" sz="1100" dirty="0"/>
          </a:p>
        </p:txBody>
      </p:sp>
      <p:sp>
        <p:nvSpPr>
          <p:cNvPr id="23" name="Text 17"/>
          <p:cNvSpPr/>
          <p:nvPr/>
        </p:nvSpPr>
        <p:spPr>
          <a:xfrm>
            <a:off x="7823200" y="3896122"/>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E0DA"/>
                </a:solidFill>
                <a:latin typeface="IBM Plex Sans" pitchFamily="34" charset="0"/>
                <a:ea typeface="IBM Plex Sans" pitchFamily="34" charset="-122"/>
                <a:cs typeface="IBM Plex Sans" pitchFamily="34" charset="-120"/>
              </a:rPr>
              <a:t>→</a:t>
            </a:r>
            <a:endParaRPr lang="en-US" sz="2000" dirty="0"/>
          </a:p>
        </p:txBody>
      </p:sp>
      <p:sp>
        <p:nvSpPr>
          <p:cNvPr id="24" name="Shape 18"/>
          <p:cNvSpPr/>
          <p:nvPr/>
        </p:nvSpPr>
        <p:spPr>
          <a:xfrm>
            <a:off x="8229600" y="3501231"/>
            <a:ext cx="3149600" cy="1145480"/>
          </a:xfrm>
          <a:prstGeom prst="roundRect">
            <a:avLst>
              <a:gd name="adj" fmla="val 8870"/>
            </a:avLst>
          </a:prstGeom>
          <a:solidFill>
            <a:srgbClr val="ECEEE9"/>
          </a:solidFill>
          <a:ln/>
        </p:spPr>
      </p:sp>
      <p:pic>
        <p:nvPicPr>
          <p:cNvPr id="25" name="Image 4" descr="Lock">    </p:cNvPr>
          <p:cNvPicPr>
            <a:picLocks noChangeAspect="1"/>
          </p:cNvPicPr>
          <p:nvPr/>
        </p:nvPicPr>
        <p:blipFill>
          <a:blip r:embed="rId5"/>
          <a:srcRect l="0" r="0" t="0" b="0"/>
          <a:stretch/>
        </p:blipFill>
        <p:spPr>
          <a:xfrm>
            <a:off x="9690100" y="3679031"/>
            <a:ext cx="228600" cy="228600"/>
          </a:xfrm>
          <a:prstGeom prst="rect">
            <a:avLst/>
          </a:prstGeom>
        </p:spPr>
      </p:pic>
      <p:sp>
        <p:nvSpPr>
          <p:cNvPr id="26" name="Text 19"/>
          <p:cNvSpPr/>
          <p:nvPr/>
        </p:nvSpPr>
        <p:spPr>
          <a:xfrm>
            <a:off x="9333637" y="3983831"/>
            <a:ext cx="941427"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2161C"/>
                </a:solidFill>
                <a:latin typeface="IBM Plex Sans" pitchFamily="34" charset="0"/>
                <a:ea typeface="IBM Plex Sans" pitchFamily="34" charset="-122"/>
                <a:cs typeface="IBM Plex Sans" pitchFamily="34" charset="-120"/>
              </a:rPr>
              <a:t>Bulkhead</a:t>
            </a:r>
            <a:endParaRPr lang="en-US" sz="1400" dirty="0"/>
          </a:p>
        </p:txBody>
      </p:sp>
      <p:sp>
        <p:nvSpPr>
          <p:cNvPr id="27" name="Text 20"/>
          <p:cNvSpPr/>
          <p:nvPr/>
        </p:nvSpPr>
        <p:spPr>
          <a:xfrm>
            <a:off x="9125635" y="4273352"/>
            <a:ext cx="135743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2 hilos + 1 en cola</a:t>
            </a:r>
            <a:endParaRPr lang="en-US" sz="1100" dirty="0"/>
          </a:p>
        </p:txBody>
      </p:sp>
      <p:sp>
        <p:nvSpPr>
          <p:cNvPr id="28" name="Text 21"/>
          <p:cNvSpPr/>
          <p:nvPr/>
        </p:nvSpPr>
        <p:spPr>
          <a:xfrm>
            <a:off x="654304" y="4900712"/>
            <a:ext cx="10883392"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Un circuito por dependencia: </a:t>
            </a:r>
            <a:r>
              <a:rPr lang="en-US" sz="1300" b="1" dirty="0">
                <a:solidFill>
                  <a:srgbClr val="4A5568"/>
                </a:solidFill>
                <a:latin typeface="IBM Plex Sans" pitchFamily="34" charset="0"/>
                <a:ea typeface="IBM Plex Sans" pitchFamily="34" charset="-122"/>
                <a:cs typeface="IBM Plex Sans" pitchFamily="34" charset="-120"/>
              </a:rPr>
              <a:t>courseService</a:t>
            </a:r>
            <a:r>
              <a:rPr lang="en-US" sz="1300" dirty="0">
                <a:solidFill>
                  <a:srgbClr val="4A5568"/>
                </a:solidFill>
                <a:latin typeface="IBM Plex Sans" pitchFamily="34" charset="0"/>
                <a:ea typeface="IBM Plex Sans" pitchFamily="34" charset="-122"/>
                <a:cs typeface="IBM Plex Sans" pitchFamily="34" charset="-120"/>
              </a:rPr>
              <a:t> protege los 3 endpoints del catálogo</a:t>
            </a:r>
            <a:endParaRPr lang="en-US" sz="1300" dirty="0"/>
          </a:p>
        </p:txBody>
      </p:sp>
      <p:sp>
        <p:nvSpPr>
          <p:cNvPr id="29" name="Text 22"/>
          <p:cNvSpPr/>
          <p:nvPr/>
        </p:nvSpPr>
        <p:spPr>
          <a:xfrm>
            <a:off x="812800" y="6238280"/>
            <a:ext cx="1579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 solución · 1 de 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051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12161C"/>
                </a:solidFill>
                <a:latin typeface="IBM Plex Sans" pitchFamily="34" charset="0"/>
                <a:ea typeface="IBM Plex Sans" pitchFamily="34" charset="-122"/>
                <a:cs typeface="IBM Plex Sans" pitchFamily="34" charset="-120"/>
              </a:rPr>
              <a:t>Circuit Breaker: tres estados</a:t>
            </a:r>
            <a:endParaRPr lang="en-US" sz="2900" dirty="0"/>
          </a:p>
        </p:txBody>
      </p:sp>
      <p:sp>
        <p:nvSpPr>
          <p:cNvPr id="3" name="Shape 1"/>
          <p:cNvSpPr/>
          <p:nvPr/>
        </p:nvSpPr>
        <p:spPr>
          <a:xfrm>
            <a:off x="1276350" y="1911350"/>
            <a:ext cx="2654300" cy="1003300"/>
          </a:xfrm>
          <a:prstGeom prst="roundRect">
            <a:avLst>
              <a:gd name="adj" fmla="val 12025"/>
            </a:avLst>
          </a:prstGeom>
          <a:solidFill>
            <a:srgbClr val="ECEEE9"/>
          </a:solidFill>
          <a:ln w="12700">
            <a:solidFill>
              <a:srgbClr val="2563EB"/>
            </a:solidFill>
            <a:prstDash val="solid"/>
          </a:ln>
        </p:spPr>
      </p:sp>
      <p:pic>
        <p:nvPicPr>
          <p:cNvPr id="4" name="Image 0" descr="CheckCircle">    </p:cNvPr>
          <p:cNvPicPr>
            <a:picLocks noChangeAspect="1"/>
          </p:cNvPicPr>
          <p:nvPr/>
        </p:nvPicPr>
        <p:blipFill>
          <a:blip r:embed="rId1"/>
          <a:srcRect l="0" r="0" t="0" b="0"/>
          <a:stretch/>
        </p:blipFill>
        <p:spPr>
          <a:xfrm>
            <a:off x="2489200" y="2016720"/>
            <a:ext cx="228600" cy="228600"/>
          </a:xfrm>
          <a:prstGeom prst="rect">
            <a:avLst/>
          </a:prstGeom>
        </p:spPr>
      </p:pic>
      <p:sp>
        <p:nvSpPr>
          <p:cNvPr id="5" name="Text 2"/>
          <p:cNvSpPr/>
          <p:nvPr/>
        </p:nvSpPr>
        <p:spPr>
          <a:xfrm>
            <a:off x="2171541" y="2296120"/>
            <a:ext cx="86391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161C"/>
                </a:solidFill>
                <a:latin typeface="IBM Plex Sans" pitchFamily="34" charset="0"/>
                <a:ea typeface="IBM Plex Sans" pitchFamily="34" charset="-122"/>
                <a:cs typeface="IBM Plex Sans" pitchFamily="34" charset="-120"/>
              </a:rPr>
              <a:t>CLOSED</a:t>
            </a:r>
            <a:endParaRPr lang="en-US" sz="1500" dirty="0"/>
          </a:p>
        </p:txBody>
      </p:sp>
      <p:sp>
        <p:nvSpPr>
          <p:cNvPr id="6" name="Text 3"/>
          <p:cNvSpPr/>
          <p:nvPr/>
        </p:nvSpPr>
        <p:spPr>
          <a:xfrm>
            <a:off x="1888659" y="2613620"/>
            <a:ext cx="142958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llamadas normales</a:t>
            </a:r>
            <a:endParaRPr lang="en-US" sz="1100" dirty="0"/>
          </a:p>
        </p:txBody>
      </p:sp>
      <p:sp>
        <p:nvSpPr>
          <p:cNvPr id="7" name="Shape 4"/>
          <p:cNvSpPr/>
          <p:nvPr/>
        </p:nvSpPr>
        <p:spPr>
          <a:xfrm>
            <a:off x="8261350" y="1911350"/>
            <a:ext cx="2654300" cy="1003300"/>
          </a:xfrm>
          <a:prstGeom prst="roundRect">
            <a:avLst>
              <a:gd name="adj" fmla="val 12025"/>
            </a:avLst>
          </a:prstGeom>
          <a:solidFill>
            <a:srgbClr val="ECEEE9"/>
          </a:solidFill>
          <a:ln w="12700">
            <a:solidFill>
              <a:srgbClr val="D97706"/>
            </a:solidFill>
            <a:prstDash val="solid"/>
          </a:ln>
        </p:spPr>
      </p:sp>
      <p:pic>
        <p:nvPicPr>
          <p:cNvPr id="8" name="Image 1" descr="Warning">    </p:cNvPr>
          <p:cNvPicPr>
            <a:picLocks noChangeAspect="1"/>
          </p:cNvPicPr>
          <p:nvPr/>
        </p:nvPicPr>
        <p:blipFill>
          <a:blip r:embed="rId2"/>
          <a:srcRect l="0" r="0" t="0" b="0"/>
          <a:stretch/>
        </p:blipFill>
        <p:spPr>
          <a:xfrm>
            <a:off x="9474200" y="2016720"/>
            <a:ext cx="228600" cy="228600"/>
          </a:xfrm>
          <a:prstGeom prst="rect">
            <a:avLst/>
          </a:prstGeom>
        </p:spPr>
      </p:pic>
      <p:sp>
        <p:nvSpPr>
          <p:cNvPr id="9" name="Text 5"/>
          <p:cNvSpPr/>
          <p:nvPr/>
        </p:nvSpPr>
        <p:spPr>
          <a:xfrm>
            <a:off x="9279771" y="2296120"/>
            <a:ext cx="61745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161C"/>
                </a:solidFill>
                <a:latin typeface="IBM Plex Sans" pitchFamily="34" charset="0"/>
                <a:ea typeface="IBM Plex Sans" pitchFamily="34" charset="-122"/>
                <a:cs typeface="IBM Plex Sans" pitchFamily="34" charset="-120"/>
              </a:rPr>
              <a:t>OPEN</a:t>
            </a:r>
            <a:endParaRPr lang="en-US" sz="1500" dirty="0"/>
          </a:p>
        </p:txBody>
      </p:sp>
      <p:sp>
        <p:nvSpPr>
          <p:cNvPr id="10" name="Text 6"/>
          <p:cNvSpPr/>
          <p:nvPr/>
        </p:nvSpPr>
        <p:spPr>
          <a:xfrm>
            <a:off x="8267700" y="2613620"/>
            <a:ext cx="2641501"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fallback inmediato, sin llamar a course</a:t>
            </a:r>
            <a:endParaRPr lang="en-US" sz="1100" dirty="0"/>
          </a:p>
        </p:txBody>
      </p:sp>
      <p:sp>
        <p:nvSpPr>
          <p:cNvPr id="11" name="Shape 7"/>
          <p:cNvSpPr/>
          <p:nvPr/>
        </p:nvSpPr>
        <p:spPr>
          <a:xfrm>
            <a:off x="4832350" y="3943350"/>
            <a:ext cx="2654300" cy="1003300"/>
          </a:xfrm>
          <a:prstGeom prst="roundRect">
            <a:avLst>
              <a:gd name="adj" fmla="val 12025"/>
            </a:avLst>
          </a:prstGeom>
          <a:solidFill>
            <a:srgbClr val="ECEEE9"/>
          </a:solidFill>
          <a:ln w="12700">
            <a:solidFill>
              <a:srgbClr val="4A5568"/>
            </a:solidFill>
            <a:prstDash val="solid"/>
          </a:ln>
        </p:spPr>
      </p:sp>
      <p:pic>
        <p:nvPicPr>
          <p:cNvPr id="12" name="Image 2" descr="Clock">    </p:cNvPr>
          <p:cNvPicPr>
            <a:picLocks noChangeAspect="1"/>
          </p:cNvPicPr>
          <p:nvPr/>
        </p:nvPicPr>
        <p:blipFill>
          <a:blip r:embed="rId3"/>
          <a:srcRect l="0" r="0" t="0" b="0"/>
          <a:stretch/>
        </p:blipFill>
        <p:spPr>
          <a:xfrm>
            <a:off x="6045200" y="4048720"/>
            <a:ext cx="228600" cy="228600"/>
          </a:xfrm>
          <a:prstGeom prst="rect">
            <a:avLst/>
          </a:prstGeom>
        </p:spPr>
      </p:pic>
      <p:sp>
        <p:nvSpPr>
          <p:cNvPr id="13" name="Text 8"/>
          <p:cNvSpPr/>
          <p:nvPr/>
        </p:nvSpPr>
        <p:spPr>
          <a:xfrm>
            <a:off x="5526097" y="4328120"/>
            <a:ext cx="126670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161C"/>
                </a:solidFill>
                <a:latin typeface="IBM Plex Sans" pitchFamily="34" charset="0"/>
                <a:ea typeface="IBM Plex Sans" pitchFamily="34" charset="-122"/>
                <a:cs typeface="IBM Plex Sans" pitchFamily="34" charset="-120"/>
              </a:rPr>
              <a:t>HALF_OPEN</a:t>
            </a:r>
            <a:endParaRPr lang="en-US" sz="1500" dirty="0"/>
          </a:p>
        </p:txBody>
      </p:sp>
      <p:sp>
        <p:nvSpPr>
          <p:cNvPr id="14" name="Text 9"/>
          <p:cNvSpPr/>
          <p:nvPr/>
        </p:nvSpPr>
        <p:spPr>
          <a:xfrm>
            <a:off x="5346670" y="4645620"/>
            <a:ext cx="16255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3 llamadas de prueba</a:t>
            </a:r>
            <a:endParaRPr lang="en-US" sz="1100" dirty="0"/>
          </a:p>
        </p:txBody>
      </p:sp>
      <p:pic>
        <p:nvPicPr>
          <p:cNvPr id="15" name="Image 3" descr="connector">    </p:cNvPr>
          <p:cNvPicPr>
            <a:picLocks noChangeAspect="1"/>
          </p:cNvPicPr>
          <p:nvPr/>
        </p:nvPicPr>
        <p:blipFill>
          <a:blip r:embed="rId4"/>
          <a:srcRect l="0" r="0" t="0" b="0"/>
          <a:stretch/>
        </p:blipFill>
        <p:spPr>
          <a:xfrm>
            <a:off x="3886200" y="2362200"/>
            <a:ext cx="4419600" cy="101600"/>
          </a:xfrm>
          <a:prstGeom prst="rect">
            <a:avLst/>
          </a:prstGeom>
        </p:spPr>
      </p:pic>
      <p:pic>
        <p:nvPicPr>
          <p:cNvPr id="16" name="Image 4" descr="connector">    </p:cNvPr>
          <p:cNvPicPr>
            <a:picLocks noChangeAspect="1"/>
          </p:cNvPicPr>
          <p:nvPr/>
        </p:nvPicPr>
        <p:blipFill>
          <a:blip r:embed="rId5"/>
          <a:srcRect l="0" r="0" t="0" b="0"/>
          <a:stretch/>
        </p:blipFill>
        <p:spPr>
          <a:xfrm>
            <a:off x="7442200" y="2870200"/>
            <a:ext cx="2197100" cy="1371600"/>
          </a:xfrm>
          <a:prstGeom prst="rect">
            <a:avLst/>
          </a:prstGeom>
        </p:spPr>
      </p:pic>
      <p:pic>
        <p:nvPicPr>
          <p:cNvPr id="17" name="Image 5" descr="connector">    </p:cNvPr>
          <p:cNvPicPr>
            <a:picLocks noChangeAspect="1"/>
          </p:cNvPicPr>
          <p:nvPr/>
        </p:nvPicPr>
        <p:blipFill>
          <a:blip r:embed="rId6"/>
          <a:srcRect l="0" r="0" t="0" b="0"/>
          <a:stretch/>
        </p:blipFill>
        <p:spPr>
          <a:xfrm>
            <a:off x="2552700" y="2870200"/>
            <a:ext cx="2324100" cy="1625600"/>
          </a:xfrm>
          <a:prstGeom prst="rect">
            <a:avLst/>
          </a:prstGeom>
        </p:spPr>
      </p:pic>
      <p:sp>
        <p:nvSpPr>
          <p:cNvPr id="18" name="Text 10"/>
          <p:cNvSpPr/>
          <p:nvPr/>
        </p:nvSpPr>
        <p:spPr>
          <a:xfrm>
            <a:off x="4397375" y="2540000"/>
            <a:ext cx="32702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≥50% fallos (mín. 5 llamadas)</a:t>
            </a:r>
            <a:endParaRPr lang="en-US" sz="1200" dirty="0"/>
          </a:p>
        </p:txBody>
      </p:sp>
      <p:sp>
        <p:nvSpPr>
          <p:cNvPr id="19" name="Text 11"/>
          <p:cNvSpPr/>
          <p:nvPr/>
        </p:nvSpPr>
        <p:spPr>
          <a:xfrm>
            <a:off x="7747000" y="3365500"/>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5s (automático)</a:t>
            </a:r>
            <a:endParaRPr lang="en-US" sz="1200" dirty="0"/>
          </a:p>
        </p:txBody>
      </p:sp>
      <p:sp>
        <p:nvSpPr>
          <p:cNvPr id="20" name="Text 12"/>
          <p:cNvSpPr/>
          <p:nvPr/>
        </p:nvSpPr>
        <p:spPr>
          <a:xfrm>
            <a:off x="2667000" y="3365500"/>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 llamadas OK</a:t>
            </a:r>
            <a:endParaRPr lang="en-US" sz="1200" dirty="0"/>
          </a:p>
        </p:txBody>
      </p:sp>
      <p:sp>
        <p:nvSpPr>
          <p:cNvPr id="21" name="Text 13"/>
          <p:cNvSpPr/>
          <p:nvPr/>
        </p:nvSpPr>
        <p:spPr>
          <a:xfrm>
            <a:off x="812800" y="6238280"/>
            <a:ext cx="18771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Circuit Breaker · 2 de 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0253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12161C"/>
                </a:solidFill>
                <a:latin typeface="IBM Plex Sans" pitchFamily="34" charset="0"/>
                <a:ea typeface="IBM Plex Sans" pitchFamily="34" charset="-122"/>
                <a:cs typeface="IBM Plex Sans" pitchFamily="34" charset="-120"/>
              </a:rPr>
              <a:t>Decisión de diseño: ¿dónde va el fallback?</a:t>
            </a:r>
            <a:endParaRPr lang="en-US" sz="2700" dirty="0"/>
          </a:p>
        </p:txBody>
      </p:sp>
      <p:sp>
        <p:nvSpPr>
          <p:cNvPr id="3" name="Shape 1"/>
          <p:cNvSpPr/>
          <p:nvPr/>
        </p:nvSpPr>
        <p:spPr>
          <a:xfrm>
            <a:off x="819150" y="1450280"/>
            <a:ext cx="5143500" cy="1308100"/>
          </a:xfrm>
          <a:prstGeom prst="roundRect">
            <a:avLst>
              <a:gd name="adj" fmla="val 9223"/>
            </a:avLst>
          </a:prstGeom>
          <a:solidFill>
            <a:srgbClr val="FFFFFF"/>
          </a:solidFill>
          <a:ln w="12700">
            <a:solidFill>
              <a:srgbClr val="D97706"/>
            </a:solidFill>
            <a:prstDash val="solid"/>
          </a:ln>
        </p:spPr>
      </p:sp>
      <p:pic>
        <p:nvPicPr>
          <p:cNvPr id="4" name="Image 0" descr="Warning">    </p:cNvPr>
          <p:cNvPicPr>
            <a:picLocks noChangeAspect="1"/>
          </p:cNvPicPr>
          <p:nvPr/>
        </p:nvPicPr>
        <p:blipFill>
          <a:blip r:embed="rId1"/>
          <a:srcRect l="0" r="0" t="0" b="0"/>
          <a:stretch/>
        </p:blipFill>
        <p:spPr>
          <a:xfrm>
            <a:off x="1079500" y="1710630"/>
            <a:ext cx="228600" cy="228600"/>
          </a:xfrm>
          <a:prstGeom prst="rect">
            <a:avLst/>
          </a:prstGeom>
        </p:spPr>
      </p:pic>
      <p:sp>
        <p:nvSpPr>
          <p:cNvPr id="5" name="Text 2"/>
          <p:cNvSpPr/>
          <p:nvPr/>
        </p:nvSpPr>
        <p:spPr>
          <a:xfrm>
            <a:off x="1409700" y="1710630"/>
            <a:ext cx="30038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161C"/>
                </a:solidFill>
                <a:latin typeface="IBM Plex Sans" pitchFamily="34" charset="0"/>
                <a:ea typeface="IBM Plex Sans" pitchFamily="34" charset="-122"/>
                <a:cs typeface="IBM Plex Sans" pitchFamily="34" charset="-120"/>
              </a:rPr>
              <a:t>Fallback en @CircuitBreaker</a:t>
            </a:r>
            <a:endParaRPr lang="en-US" sz="1500" dirty="0"/>
          </a:p>
        </p:txBody>
      </p:sp>
      <p:sp>
        <p:nvSpPr>
          <p:cNvPr id="6" name="Text 3"/>
          <p:cNvSpPr/>
          <p:nvPr/>
        </p:nvSpPr>
        <p:spPr>
          <a:xfrm>
            <a:off x="1079500" y="2040830"/>
            <a:ext cx="476148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pitchFamily="34" charset="0"/>
                <a:ea typeface="IBM Plex Sans" pitchFamily="34" charset="-122"/>
                <a:cs typeface="IBM Plex Sans" pitchFamily="34" charset="-120"/>
              </a:rPr>
              <a:t>“Traga” la excepción antes de que Retry la vea → </a:t>
            </a:r>
            <a:r>
              <a:rPr lang="en-US" sz="1200" b="1" dirty="0">
                <a:solidFill>
                  <a:srgbClr val="4A5568"/>
                </a:solidFill>
                <a:latin typeface="IBM Plex Sans" pitchFamily="34" charset="0"/>
                <a:ea typeface="IBM Plex Sans" pitchFamily="34" charset="-122"/>
                <a:cs typeface="IBM Plex Sans" pitchFamily="34" charset="-120"/>
              </a:rPr>
              <a:t>Retry nunca reintenta</a:t>
            </a:r>
            <a:endParaRPr lang="en-US" sz="1200" dirty="0"/>
          </a:p>
        </p:txBody>
      </p:sp>
      <p:sp>
        <p:nvSpPr>
          <p:cNvPr id="7" name="Shape 4"/>
          <p:cNvSpPr/>
          <p:nvPr/>
        </p:nvSpPr>
        <p:spPr>
          <a:xfrm>
            <a:off x="6229350" y="1450280"/>
            <a:ext cx="5143500" cy="1308100"/>
          </a:xfrm>
          <a:prstGeom prst="roundRect">
            <a:avLst>
              <a:gd name="adj" fmla="val 9223"/>
            </a:avLst>
          </a:prstGeom>
          <a:solidFill>
            <a:srgbClr val="FFFFFF"/>
          </a:solidFill>
          <a:ln w="12700">
            <a:solidFill>
              <a:srgbClr val="2563EB"/>
            </a:solidFill>
            <a:prstDash val="solid"/>
          </a:ln>
        </p:spPr>
      </p:sp>
      <p:pic>
        <p:nvPicPr>
          <p:cNvPr id="8" name="Image 1" descr="Check">    </p:cNvPr>
          <p:cNvPicPr>
            <a:picLocks noChangeAspect="1"/>
          </p:cNvPicPr>
          <p:nvPr/>
        </p:nvPicPr>
        <p:blipFill>
          <a:blip r:embed="rId2"/>
          <a:srcRect l="0" r="0" t="0" b="0"/>
          <a:stretch/>
        </p:blipFill>
        <p:spPr>
          <a:xfrm>
            <a:off x="6489700" y="1710630"/>
            <a:ext cx="228600" cy="228600"/>
          </a:xfrm>
          <a:prstGeom prst="rect">
            <a:avLst/>
          </a:prstGeom>
        </p:spPr>
      </p:pic>
      <p:sp>
        <p:nvSpPr>
          <p:cNvPr id="9" name="Text 5"/>
          <p:cNvSpPr/>
          <p:nvPr/>
        </p:nvSpPr>
        <p:spPr>
          <a:xfrm>
            <a:off x="6819900" y="1710630"/>
            <a:ext cx="37922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161C"/>
                </a:solidFill>
                <a:latin typeface="IBM Plex Sans" pitchFamily="34" charset="0"/>
                <a:ea typeface="IBM Plex Sans" pitchFamily="34" charset="-122"/>
                <a:cs typeface="IBM Plex Sans" pitchFamily="34" charset="-120"/>
              </a:rPr>
              <a:t>Fallback en @Retry (implementado)</a:t>
            </a:r>
            <a:endParaRPr lang="en-US" sz="1500" dirty="0"/>
          </a:p>
        </p:txBody>
      </p:sp>
      <p:sp>
        <p:nvSpPr>
          <p:cNvPr id="10" name="Text 6"/>
          <p:cNvSpPr/>
          <p:nvPr/>
        </p:nvSpPr>
        <p:spPr>
          <a:xfrm>
            <a:off x="6489700" y="2040830"/>
            <a:ext cx="476148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pitchFamily="34" charset="0"/>
                <a:ea typeface="IBM Plex Sans" pitchFamily="34" charset="-122"/>
                <a:cs typeface="IBM Plex Sans" pitchFamily="34" charset="-120"/>
              </a:rPr>
              <a:t>Cada intento fallido alimenta al circuito; solo al agotar reintentos se degrada</a:t>
            </a:r>
            <a:endParaRPr lang="en-US" sz="1200" dirty="0"/>
          </a:p>
        </p:txBody>
      </p:sp>
      <p:sp>
        <p:nvSpPr>
          <p:cNvPr id="11" name="Shape 7"/>
          <p:cNvSpPr/>
          <p:nvPr/>
        </p:nvSpPr>
        <p:spPr>
          <a:xfrm>
            <a:off x="812800" y="3018730"/>
            <a:ext cx="10566400" cy="1456134"/>
          </a:xfrm>
          <a:custGeom>
            <a:avLst/>
            <a:gdLst/>
            <a:ahLst/>
            <a:cxnLst/>
            <a:rect l="l" t="t" r="r" b="b"/>
            <a:pathLst>
              <a:path w="10566400" h="1456134">
                <a:moveTo>
                  <a:pt x="10464800" y="0"/>
                </a:moveTo>
                <a:lnTo>
                  <a:pt x="10464800" y="0"/>
                </a:lnTo>
                <a:arcTo hR="101600" wR="101600" stAng="16200000" swAng="5400000"/>
                <a:lnTo>
                  <a:pt x="10566400" y="1354534"/>
                </a:lnTo>
                <a:arcTo hR="101600" wR="101600" stAng="0" swAng="5400000"/>
                <a:lnTo>
                  <a:pt x="101600" y="1456134"/>
                </a:lnTo>
                <a:arcTo hR="101600" wR="101600" stAng="5400000" swAng="5400000"/>
                <a:lnTo>
                  <a:pt x="0" y="1354534"/>
                </a:lnTo>
                <a:arcTo hR="95250" wR="101600" stAng="10800000" swAng="-5400000"/>
                <a:lnTo>
                  <a:pt x="10464800" y="1449784"/>
                </a:lnTo>
                <a:arcTo hR="95250" wR="95250" stAng="5400000" swAng="-5400000"/>
                <a:lnTo>
                  <a:pt x="10560050" y="101600"/>
                </a:lnTo>
                <a:arcTo hR="101600" wR="95250" stAng="0" swAng="-5400000"/>
                <a:close/>
              </a:path>
            </a:pathLst>
          </a:custGeom>
          <a:solidFill>
            <a:srgbClr val="DCE0DA"/>
          </a:solidFill>
          <a:ln/>
        </p:spPr>
      </p:sp>
      <p:sp>
        <p:nvSpPr>
          <p:cNvPr id="12" name="Shape 8"/>
          <p:cNvSpPr/>
          <p:nvPr/>
        </p:nvSpPr>
        <p:spPr>
          <a:xfrm>
            <a:off x="812800" y="3018730"/>
            <a:ext cx="10566400" cy="1456134"/>
          </a:xfrm>
          <a:custGeom>
            <a:avLst/>
            <a:gdLst/>
            <a:ahLst/>
            <a:cxnLst/>
            <a:rect l="l" t="t" r="r" b="b"/>
            <a:pathLst>
              <a:path w="10566400" h="1456134">
                <a:moveTo>
                  <a:pt x="101600" y="1456134"/>
                </a:moveTo>
                <a:lnTo>
                  <a:pt x="101600" y="145613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1354534"/>
                </a:lnTo>
                <a:arcTo hR="101600" wR="88900" stAng="10800000" swAng="-5400000"/>
                <a:close/>
              </a:path>
            </a:pathLst>
          </a:custGeom>
          <a:solidFill>
            <a:srgbClr val="141413">
              <a:alpha val="22000"/>
            </a:srgbClr>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031430"/>
          <a:ext cx="10547350" cy="1437084"/>
        </p:xfrm>
        <a:graphic>
          <a:graphicData uri="http://schemas.openxmlformats.org/drawingml/2006/table">
            <a:tbl>
              <a:tblPr/>
              <a:tblGrid>
                <a:gridCol w="4218940"/>
                <a:gridCol w="3164205"/>
                <a:gridCol w="3164205"/>
              </a:tblGrid>
              <a:tr h="359271">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Métrica (course caído)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Fallback en @CircuitBreaker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Fallback en @Retry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Tiempo de respuesta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0.002s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1.01s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Eventos de reintento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2 RETRY + 1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Fallos registrados en el circuito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14" name="Text 9"/>
          <p:cNvSpPr/>
          <p:nvPr/>
        </p:nvSpPr>
        <p:spPr>
          <a:xfrm>
            <a:off x="812800" y="6238280"/>
            <a:ext cx="38588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Decisión verificada experimentalmente · 3 de 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051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12161C"/>
                </a:solidFill>
                <a:latin typeface="IBM Plex Sans" pitchFamily="34" charset="0"/>
                <a:ea typeface="IBM Plex Sans" pitchFamily="34" charset="-122"/>
                <a:cs typeface="IBM Plex Sans" pitchFamily="34" charset="-120"/>
              </a:rPr>
              <a:t>Resilience4j vs. Hystrix</a:t>
            </a:r>
            <a:endParaRPr lang="en-US" sz="2900" dirty="0"/>
          </a:p>
        </p:txBody>
      </p:sp>
      <p:sp>
        <p:nvSpPr>
          <p:cNvPr id="3" name="Shape 1"/>
          <p:cNvSpPr/>
          <p:nvPr/>
        </p:nvSpPr>
        <p:spPr>
          <a:xfrm>
            <a:off x="812800" y="1471910"/>
            <a:ext cx="10566400" cy="1815405"/>
          </a:xfrm>
          <a:custGeom>
            <a:avLst/>
            <a:gdLst/>
            <a:ahLst/>
            <a:cxnLst/>
            <a:rect l="l" t="t" r="r" b="b"/>
            <a:pathLst>
              <a:path w="10566400" h="1815405">
                <a:moveTo>
                  <a:pt x="10464800" y="0"/>
                </a:moveTo>
                <a:lnTo>
                  <a:pt x="10464800" y="0"/>
                </a:lnTo>
                <a:arcTo hR="101600" wR="101600" stAng="16200000" swAng="5400000"/>
                <a:lnTo>
                  <a:pt x="10566400" y="1713805"/>
                </a:lnTo>
                <a:arcTo hR="101600" wR="101600" stAng="0" swAng="5400000"/>
                <a:lnTo>
                  <a:pt x="101600" y="1815405"/>
                </a:lnTo>
                <a:arcTo hR="101600" wR="101600" stAng="5400000" swAng="5400000"/>
                <a:lnTo>
                  <a:pt x="0" y="1713805"/>
                </a:lnTo>
                <a:arcTo hR="95250" wR="101600" stAng="10800000" swAng="-5400000"/>
                <a:lnTo>
                  <a:pt x="10464800" y="1809055"/>
                </a:lnTo>
                <a:arcTo hR="95250" wR="95250" stAng="5400000" swAng="-5400000"/>
                <a:lnTo>
                  <a:pt x="10560050" y="101600"/>
                </a:lnTo>
                <a:arcTo hR="101600" wR="95250" stAng="0" swAng="-5400000"/>
                <a:close/>
              </a:path>
            </a:pathLst>
          </a:custGeom>
          <a:solidFill>
            <a:srgbClr val="DCE0DA"/>
          </a:solidFill>
          <a:ln/>
        </p:spPr>
      </p:sp>
      <p:sp>
        <p:nvSpPr>
          <p:cNvPr id="4" name="Shape 2"/>
          <p:cNvSpPr/>
          <p:nvPr/>
        </p:nvSpPr>
        <p:spPr>
          <a:xfrm>
            <a:off x="812800" y="1471910"/>
            <a:ext cx="10566400" cy="1815405"/>
          </a:xfrm>
          <a:custGeom>
            <a:avLst/>
            <a:gdLst/>
            <a:ahLst/>
            <a:cxnLst/>
            <a:rect l="l" t="t" r="r" b="b"/>
            <a:pathLst>
              <a:path w="10566400" h="1815405">
                <a:moveTo>
                  <a:pt x="101600" y="1815405"/>
                </a:moveTo>
                <a:lnTo>
                  <a:pt x="101600" y="1815405"/>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1713805"/>
                </a:lnTo>
                <a:arcTo hR="101600" wR="88900" stAng="10800000" swAng="-5400000"/>
                <a:close/>
              </a:path>
            </a:pathLst>
          </a:custGeom>
          <a:solidFill>
            <a:srgbClr val="141413">
              <a:alpha val="22000"/>
            </a:srgbClr>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484610"/>
          <a:ext cx="10547350" cy="1796355"/>
        </p:xfrm>
        <a:graphic>
          <a:graphicData uri="http://schemas.openxmlformats.org/drawingml/2006/table">
            <a:tbl>
              <a:tblPr/>
              <a:tblGrid>
                <a:gridCol w="2531364"/>
                <a:gridCol w="4007993"/>
                <a:gridCol w="4007993"/>
              </a:tblGrid>
              <a:tr h="359271">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Aspecto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Hystrix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Resilience4j</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2161A"/>
                      </a:solidFill>
                      <a:prstDash val="solid"/>
                      <a:round/>
                      <a:headEnd type="none" w="med" len="med"/>
                      <a:tailEnd type="none" w="med" len="med"/>
                    </a:lnL>
                    <a:lnR w="12700" cap="flat" cmpd="sng" algn="ctr">
                      <a:solidFill>
                        <a:srgbClr val="12161A"/>
                      </a:solidFill>
                      <a:prstDash val="solid"/>
                      <a:round/>
                      <a:headEnd type="none" w="med" len="med"/>
                      <a:tailEnd type="none" w="med" len="med"/>
                    </a:lnR>
                    <a:lnT w="0" cap="flat" cmpd="sng" algn="ctr">
                      <a:noFill/>
                    </a:lnT>
                    <a:lnB w="12700" cap="flat" cmpd="sng" algn="ctr">
                      <a:solidFill>
                        <a:srgbClr val="12161A"/>
                      </a:solidFill>
                      <a:prstDash val="solid"/>
                      <a:round/>
                      <a:headEnd type="none" w="med" len="med"/>
                      <a:tailEnd type="none" w="med" len="med"/>
                    </a:lnB>
                    <a:solidFill>
                      <a:srgbClr val="12161C"/>
                    </a:solidFill>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Estado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Mantenimiento desde 2018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Activo, soporte oficial Spring Boot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Diseño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Monolítico (todo vía HystrixCommand)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Modular: se usa solo lo necesario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Patrones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Circuit breaker, fallback, timeout, bulkhead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 Retry, RateLimiter, TimeLimiter, Cache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Peso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Dependencias pesadas (Archaius, RxJava)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Ligero, sin dependencias pesadas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bl>
          </a:graphicData>
        </a:graphic>
      </p:graphicFrame>
      <p:sp>
        <p:nvSpPr>
          <p:cNvPr id="6" name="Shape 3"/>
          <p:cNvSpPr/>
          <p:nvPr/>
        </p:nvSpPr>
        <p:spPr>
          <a:xfrm>
            <a:off x="812800" y="3541316"/>
            <a:ext cx="10566400" cy="660400"/>
          </a:xfrm>
          <a:prstGeom prst="roundRect">
            <a:avLst>
              <a:gd name="adj" fmla="val 15385"/>
            </a:avLst>
          </a:prstGeom>
          <a:solidFill>
            <a:srgbClr val="12161C"/>
          </a:solidFill>
          <a:ln/>
        </p:spPr>
      </p:sp>
      <p:pic>
        <p:nvPicPr>
          <p:cNvPr id="7" name="Image 0" descr="Verified">    </p:cNvPr>
          <p:cNvPicPr>
            <a:picLocks noChangeAspect="1"/>
          </p:cNvPicPr>
          <p:nvPr/>
        </p:nvPicPr>
        <p:blipFill>
          <a:blip r:embed="rId1"/>
          <a:srcRect l="0" r="0" t="0" b="0"/>
          <a:stretch/>
        </p:blipFill>
        <p:spPr>
          <a:xfrm>
            <a:off x="1066800" y="3744516"/>
            <a:ext cx="254000" cy="254000"/>
          </a:xfrm>
          <a:prstGeom prst="rect">
            <a:avLst/>
          </a:prstGeom>
        </p:spPr>
      </p:pic>
      <p:sp>
        <p:nvSpPr>
          <p:cNvPr id="8" name="Text 4"/>
          <p:cNvSpPr/>
          <p:nvPr/>
        </p:nvSpPr>
        <p:spPr>
          <a:xfrm>
            <a:off x="1447800" y="3747095"/>
            <a:ext cx="9931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Hystrix no compila en Spring Boot 3 (Jakarta EE). Resilience4j es el reemplazo oficial recomendado por Netflix y Spring.</a:t>
            </a:r>
            <a:endParaRPr lang="en-US" sz="1400" dirty="0"/>
          </a:p>
        </p:txBody>
      </p:sp>
      <p:sp>
        <p:nvSpPr>
          <p:cNvPr id="9" name="Text 5"/>
          <p:cNvSpPr/>
          <p:nvPr/>
        </p:nvSpPr>
        <p:spPr>
          <a:xfrm>
            <a:off x="812800" y="6238280"/>
            <a:ext cx="1745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Comparación · 4 de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051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F7F7F4"/>
                </a:solidFill>
                <a:latin typeface="IBM Plex Sans" pitchFamily="34" charset="0"/>
                <a:ea typeface="IBM Plex Sans" pitchFamily="34" charset="-122"/>
                <a:cs typeface="IBM Plex Sans" pitchFamily="34" charset="-120"/>
              </a:rPr>
              <a:t>Evidencia real medida</a:t>
            </a:r>
            <a:endParaRPr lang="en-US" sz="2900" dirty="0"/>
          </a:p>
        </p:txBody>
      </p:sp>
      <p:sp>
        <p:nvSpPr>
          <p:cNvPr id="3" name="Shape 1"/>
          <p:cNvSpPr/>
          <p:nvPr/>
        </p:nvSpPr>
        <p:spPr>
          <a:xfrm>
            <a:off x="812800" y="1522710"/>
            <a:ext cx="3386634" cy="1589881"/>
          </a:xfrm>
          <a:prstGeom prst="roundRect">
            <a:avLst>
              <a:gd name="adj" fmla="val 7988"/>
            </a:avLst>
          </a:prstGeom>
          <a:solidFill>
            <a:srgbClr val="1C2430"/>
          </a:solidFill>
          <a:ln/>
        </p:spPr>
      </p:sp>
      <p:sp>
        <p:nvSpPr>
          <p:cNvPr id="4" name="Text 2"/>
          <p:cNvSpPr/>
          <p:nvPr/>
        </p:nvSpPr>
        <p:spPr>
          <a:xfrm>
            <a:off x="1828830" y="1776710"/>
            <a:ext cx="1354574" cy="629841"/>
          </a:xfrm>
          <a:prstGeom prst="rect">
            <a:avLst/>
          </a:prstGeom>
          <a:noFill/>
          <a:ln/>
        </p:spPr>
        <p:txBody>
          <a:bodyPr wrap="square" lIns="0" tIns="0" rIns="0" bIns="0" rtlCol="0" anchor="t">
            <a:normAutofit/>
          </a:bodyPr>
          <a:lstStyle/>
          <a:p>
            <a:pPr algn="ctr" indent="0" marL="0">
              <a:lnSpc>
                <a:spcPts val="4760"/>
              </a:lnSpc>
              <a:buNone/>
            </a:pPr>
            <a:r>
              <a:rPr lang="en-US" sz="3400" b="1" dirty="0">
                <a:solidFill>
                  <a:srgbClr val="D97706"/>
                </a:solidFill>
                <a:latin typeface="IBM Plex Sans" pitchFamily="34" charset="0"/>
                <a:ea typeface="IBM Plex Sans" pitchFamily="34" charset="-122"/>
                <a:cs typeface="IBM Plex Sans" pitchFamily="34" charset="-120"/>
              </a:rPr>
              <a:t>1.03s</a:t>
            </a:r>
            <a:endParaRPr lang="en-US" sz="3400" dirty="0"/>
          </a:p>
        </p:txBody>
      </p:sp>
      <p:sp>
        <p:nvSpPr>
          <p:cNvPr id="5" name="Text 3"/>
          <p:cNvSpPr/>
          <p:nvPr/>
        </p:nvSpPr>
        <p:spPr>
          <a:xfrm>
            <a:off x="1125051" y="2431951"/>
            <a:ext cx="276213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primera falla (3 intentos de Retry)</a:t>
            </a:r>
            <a:endParaRPr lang="en-US" sz="1200" dirty="0"/>
          </a:p>
        </p:txBody>
      </p:sp>
      <p:sp>
        <p:nvSpPr>
          <p:cNvPr id="6" name="Shape 4"/>
          <p:cNvSpPr/>
          <p:nvPr/>
        </p:nvSpPr>
        <p:spPr>
          <a:xfrm>
            <a:off x="4402634" y="1522710"/>
            <a:ext cx="3386733" cy="1589881"/>
          </a:xfrm>
          <a:prstGeom prst="roundRect">
            <a:avLst>
              <a:gd name="adj" fmla="val 7988"/>
            </a:avLst>
          </a:prstGeom>
          <a:solidFill>
            <a:srgbClr val="1C2430"/>
          </a:solidFill>
          <a:ln/>
        </p:spPr>
      </p:sp>
      <p:sp>
        <p:nvSpPr>
          <p:cNvPr id="7" name="Text 5"/>
          <p:cNvSpPr/>
          <p:nvPr/>
        </p:nvSpPr>
        <p:spPr>
          <a:xfrm>
            <a:off x="5418663" y="1776710"/>
            <a:ext cx="1354574" cy="629841"/>
          </a:xfrm>
          <a:prstGeom prst="rect">
            <a:avLst/>
          </a:prstGeom>
          <a:noFill/>
          <a:ln/>
        </p:spPr>
        <p:txBody>
          <a:bodyPr wrap="square" lIns="0" tIns="0" rIns="0" bIns="0" rtlCol="0" anchor="t">
            <a:normAutofit/>
          </a:bodyPr>
          <a:lstStyle/>
          <a:p>
            <a:pPr algn="ctr" indent="0" marL="0">
              <a:lnSpc>
                <a:spcPts val="4760"/>
              </a:lnSpc>
              <a:buNone/>
            </a:pPr>
            <a:r>
              <a:rPr lang="en-US" sz="3400" b="1" dirty="0">
                <a:solidFill>
                  <a:srgbClr val="D97706"/>
                </a:solidFill>
                <a:latin typeface="IBM Plex Sans" pitchFamily="34" charset="0"/>
                <a:ea typeface="IBM Plex Sans" pitchFamily="34" charset="-122"/>
                <a:cs typeface="IBM Plex Sans" pitchFamily="34" charset="-120"/>
              </a:rPr>
              <a:t>0.00s</a:t>
            </a:r>
            <a:endParaRPr lang="en-US" sz="3400" dirty="0"/>
          </a:p>
        </p:txBody>
      </p:sp>
      <p:sp>
        <p:nvSpPr>
          <p:cNvPr id="8" name="Text 6"/>
          <p:cNvSpPr/>
          <p:nvPr/>
        </p:nvSpPr>
        <p:spPr>
          <a:xfrm>
            <a:off x="4651067" y="2431951"/>
            <a:ext cx="288976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circuito OPEN: fallback instantáneo</a:t>
            </a:r>
            <a:endParaRPr lang="en-US" sz="1200" dirty="0"/>
          </a:p>
        </p:txBody>
      </p:sp>
      <p:sp>
        <p:nvSpPr>
          <p:cNvPr id="9" name="Shape 7"/>
          <p:cNvSpPr/>
          <p:nvPr/>
        </p:nvSpPr>
        <p:spPr>
          <a:xfrm>
            <a:off x="7992566" y="1522710"/>
            <a:ext cx="3386634" cy="1589881"/>
          </a:xfrm>
          <a:prstGeom prst="roundRect">
            <a:avLst>
              <a:gd name="adj" fmla="val 7988"/>
            </a:avLst>
          </a:prstGeom>
          <a:solidFill>
            <a:srgbClr val="1C2430"/>
          </a:solidFill>
          <a:ln/>
        </p:spPr>
      </p:sp>
      <p:sp>
        <p:nvSpPr>
          <p:cNvPr id="10" name="Text 8"/>
          <p:cNvSpPr/>
          <p:nvPr/>
        </p:nvSpPr>
        <p:spPr>
          <a:xfrm>
            <a:off x="9088854" y="1776710"/>
            <a:ext cx="1193959" cy="629841"/>
          </a:xfrm>
          <a:prstGeom prst="rect">
            <a:avLst/>
          </a:prstGeom>
          <a:noFill/>
          <a:ln/>
        </p:spPr>
        <p:txBody>
          <a:bodyPr wrap="square" lIns="0" tIns="0" rIns="0" bIns="0" rtlCol="0" anchor="t">
            <a:normAutofit/>
          </a:bodyPr>
          <a:lstStyle/>
          <a:p>
            <a:pPr algn="ctr" indent="0" marL="0">
              <a:lnSpc>
                <a:spcPts val="4760"/>
              </a:lnSpc>
              <a:buNone/>
            </a:pPr>
            <a:r>
              <a:rPr lang="en-US" sz="3400" b="1" dirty="0">
                <a:solidFill>
                  <a:srgbClr val="D97706"/>
                </a:solidFill>
                <a:latin typeface="IBM Plex Sans" pitchFamily="34" charset="0"/>
                <a:ea typeface="IBM Plex Sans" pitchFamily="34" charset="-122"/>
                <a:cs typeface="IBM Plex Sans" pitchFamily="34" charset="-120"/>
              </a:rPr>
              <a:t>~20s</a:t>
            </a:r>
            <a:endParaRPr lang="en-US" sz="3400" dirty="0"/>
          </a:p>
        </p:txBody>
      </p:sp>
      <p:sp>
        <p:nvSpPr>
          <p:cNvPr id="11" name="Text 9"/>
          <p:cNvSpPr/>
          <p:nvPr/>
        </p:nvSpPr>
        <p:spPr>
          <a:xfrm>
            <a:off x="8203387" y="2431951"/>
            <a:ext cx="2964993"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recuperación automática tras reiniciar course</a:t>
            </a:r>
            <a:endParaRPr lang="en-US" sz="1200" dirty="0"/>
          </a:p>
        </p:txBody>
      </p:sp>
      <p:sp>
        <p:nvSpPr>
          <p:cNvPr id="12" name="Text 10"/>
          <p:cNvSpPr/>
          <p:nvPr/>
        </p:nvSpPr>
        <p:spPr>
          <a:xfrm>
            <a:off x="815975" y="3420566"/>
            <a:ext cx="10560050" cy="1387872"/>
          </a:xfrm>
          <a:prstGeom prst="roundRect">
            <a:avLst>
              <a:gd name="adj" fmla="val 7092"/>
            </a:avLst>
          </a:prstGeom>
          <a:solidFill>
            <a:srgbClr val="1C2430"/>
          </a:solidFill>
          <a:ln w="6350">
            <a:solidFill>
              <a:srgbClr val="2A3341"/>
            </a:solidFill>
            <a:prstDash val="solid"/>
          </a:ln>
        </p:spPr>
        <p:txBody>
          <a:bodyPr wrap="square" lIns="228347" tIns="177547" rIns="0" bIns="152147" rtlCol="0" anchor="t">
            <a:normAutofit/>
          </a:bodyPr>
          <a:lstStyle/>
          <a:p>
            <a:pPr algn="l" indent="0" marL="0">
              <a:lnSpc>
                <a:spcPts val="1920"/>
              </a:lnSpc>
              <a:buNone/>
            </a:pPr>
            <a:r>
              <a:rPr lang="en-US" sz="1200" dirty="0">
                <a:solidFill>
                  <a:srgbClr val="F7F7F4"/>
                </a:solidFill>
                <a:latin typeface="JetBrains Mono" pitchFamily="49" charset="0"/>
                <a:ea typeface="JetBrains Mono" pitchFamily="49" charset="-122"/>
                <a:cs typeface="JetBrains Mono" pitchFamily="49" charset="-120"/>
              </a:rPr>
              <a:t>11:37:09 NOT_PERMITTED</a:t>
            </a:r>
            <a:endParaRPr lang="en-US" sz="1200" dirty="0"/>
          </a:p>
          <a:p>
            <a:pPr algn="l" indent="0" marL="0">
              <a:lnSpc>
                <a:spcPts val="1920"/>
              </a:lnSpc>
              <a:buNone/>
            </a:pPr>
            <a:r>
              <a:rPr lang="en-US" sz="1200" dirty="0">
                <a:solidFill>
                  <a:srgbClr val="F7F7F4"/>
                </a:solidFill>
                <a:latin typeface="JetBrains Mono" pitchFamily="49" charset="0"/>
                <a:ea typeface="JetBrains Mono" pitchFamily="49" charset="-122"/>
                <a:cs typeface="JetBrains Mono" pitchFamily="49" charset="-120"/>
              </a:rPr>
              <a:t>11:37:10 STATE_TRANSITION OPEN_TO_HALF_OPEN</a:t>
            </a:r>
            <a:endParaRPr lang="en-US" sz="1200" dirty="0"/>
          </a:p>
          <a:p>
            <a:pPr algn="l" indent="0" marL="0">
              <a:lnSpc>
                <a:spcPts val="1920"/>
              </a:lnSpc>
              <a:buNone/>
            </a:pPr>
            <a:r>
              <a:rPr lang="en-US" sz="1200" dirty="0">
                <a:solidFill>
                  <a:srgbClr val="F7F7F4"/>
                </a:solidFill>
                <a:latin typeface="JetBrains Mono" pitchFamily="49" charset="0"/>
                <a:ea typeface="JetBrains Mono" pitchFamily="49" charset="-122"/>
                <a:cs typeface="JetBrains Mono" pitchFamily="49" charset="-120"/>
              </a:rPr>
              <a:t>11:37:10 SUCCESS · SUCCESS · SUCCESS</a:t>
            </a:r>
            <a:endParaRPr lang="en-US" sz="1200" dirty="0"/>
          </a:p>
          <a:p>
            <a:pPr algn="l" indent="0" marL="0">
              <a:lnSpc>
                <a:spcPts val="1920"/>
              </a:lnSpc>
              <a:buNone/>
            </a:pPr>
            <a:r>
              <a:rPr lang="en-US" sz="1200" dirty="0">
                <a:solidFill>
                  <a:srgbClr val="F7F7F4"/>
                </a:solidFill>
                <a:latin typeface="JetBrains Mono" pitchFamily="49" charset="0"/>
                <a:ea typeface="JetBrains Mono" pitchFamily="49" charset="-122"/>
                <a:cs typeface="JetBrains Mono" pitchFamily="49" charset="-120"/>
              </a:rPr>
              <a:t>11:37:10 STATE_TRANSITION HALF_OPEN_TO_CLOSED</a:t>
            </a:r>
            <a:endParaRPr lang="en-US" sz="1200" dirty="0"/>
          </a:p>
        </p:txBody>
      </p:sp>
      <p:sp>
        <p:nvSpPr>
          <p:cNvPr id="13" name="Text 11"/>
          <p:cNvSpPr/>
          <p:nvPr/>
        </p:nvSpPr>
        <p:spPr>
          <a:xfrm>
            <a:off x="812800" y="511641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GET /actuator/circuitbreakerevents · ejecución real verificada en Docker Compose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051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12161C"/>
                </a:solidFill>
                <a:latin typeface="IBM Plex Sans" pitchFamily="34" charset="0"/>
                <a:ea typeface="IBM Plex Sans" pitchFamily="34" charset="-122"/>
                <a:cs typeface="IBM Plex Sans" pitchFamily="34" charset="-120"/>
              </a:rPr>
              <a:t>Demo en vivo: qué vamos a mostrar</a:t>
            </a:r>
            <a:endParaRPr lang="en-US" sz="2900" dirty="0"/>
          </a:p>
        </p:txBody>
      </p:sp>
      <p:sp>
        <p:nvSpPr>
          <p:cNvPr id="3" name="Shape 1"/>
          <p:cNvSpPr/>
          <p:nvPr/>
        </p:nvSpPr>
        <p:spPr>
          <a:xfrm>
            <a:off x="815975" y="1424285"/>
            <a:ext cx="10560050" cy="595610"/>
          </a:xfrm>
          <a:prstGeom prst="roundRect">
            <a:avLst>
              <a:gd name="adj" fmla="val 16525"/>
            </a:avLst>
          </a:prstGeom>
          <a:solidFill>
            <a:srgbClr val="FFFFFF"/>
          </a:solidFill>
          <a:ln w="6350">
            <a:solidFill>
              <a:srgbClr val="DCE0DA"/>
            </a:solidFill>
            <a:prstDash val="solid"/>
          </a:ln>
        </p:spPr>
      </p:sp>
      <p:sp>
        <p:nvSpPr>
          <p:cNvPr id="4" name="Text 2"/>
          <p:cNvSpPr/>
          <p:nvPr/>
        </p:nvSpPr>
        <p:spPr>
          <a:xfrm>
            <a:off x="1022350" y="157986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EB"/>
                </a:solidFill>
                <a:latin typeface="IBM Plex Sans" pitchFamily="34" charset="0"/>
                <a:ea typeface="IBM Plex Sans" pitchFamily="34" charset="-122"/>
                <a:cs typeface="IBM Plex Sans" pitchFamily="34" charset="-120"/>
              </a:rPr>
              <a:t>1</a:t>
            </a:r>
            <a:endParaRPr lang="en-US" sz="1600" dirty="0"/>
          </a:p>
        </p:txBody>
      </p:sp>
      <p:sp>
        <p:nvSpPr>
          <p:cNvPr id="5" name="Text 3"/>
          <p:cNvSpPr/>
          <p:nvPr/>
        </p:nvSpPr>
        <p:spPr>
          <a:xfrm>
            <a:off x="1555750" y="1606550"/>
            <a:ext cx="604706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docker compose up --build -d → los 3 contenedores quedan healthy</a:t>
            </a:r>
            <a:endParaRPr lang="en-US" sz="1300" dirty="0"/>
          </a:p>
        </p:txBody>
      </p:sp>
      <p:sp>
        <p:nvSpPr>
          <p:cNvPr id="6" name="Shape 4"/>
          <p:cNvSpPr/>
          <p:nvPr/>
        </p:nvSpPr>
        <p:spPr>
          <a:xfrm>
            <a:off x="815975" y="2153245"/>
            <a:ext cx="10560050" cy="595610"/>
          </a:xfrm>
          <a:prstGeom prst="roundRect">
            <a:avLst>
              <a:gd name="adj" fmla="val 16525"/>
            </a:avLst>
          </a:prstGeom>
          <a:solidFill>
            <a:srgbClr val="FFFFFF"/>
          </a:solidFill>
          <a:ln w="6350">
            <a:solidFill>
              <a:srgbClr val="DCE0DA"/>
            </a:solidFill>
            <a:prstDash val="solid"/>
          </a:ln>
        </p:spPr>
      </p:sp>
      <p:sp>
        <p:nvSpPr>
          <p:cNvPr id="7" name="Text 5"/>
          <p:cNvSpPr/>
          <p:nvPr/>
        </p:nvSpPr>
        <p:spPr>
          <a:xfrm>
            <a:off x="1022350" y="230882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EB"/>
                </a:solidFill>
                <a:latin typeface="IBM Plex Sans" pitchFamily="34" charset="0"/>
                <a:ea typeface="IBM Plex Sans" pitchFamily="34" charset="-122"/>
                <a:cs typeface="IBM Plex Sans" pitchFamily="34" charset="-120"/>
              </a:rPr>
              <a:t>2</a:t>
            </a:r>
            <a:endParaRPr lang="en-US" sz="1600" dirty="0"/>
          </a:p>
        </p:txBody>
      </p:sp>
      <p:sp>
        <p:nvSpPr>
          <p:cNvPr id="8" name="Text 6"/>
          <p:cNvSpPr/>
          <p:nvPr/>
        </p:nvSpPr>
        <p:spPr>
          <a:xfrm>
            <a:off x="1555750" y="2335510"/>
            <a:ext cx="50937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Panel de Eureka (localhost:8761): los dos servicios en UP</a:t>
            </a:r>
            <a:endParaRPr lang="en-US" sz="1300" dirty="0"/>
          </a:p>
        </p:txBody>
      </p:sp>
      <p:sp>
        <p:nvSpPr>
          <p:cNvPr id="9" name="Shape 7"/>
          <p:cNvSpPr/>
          <p:nvPr/>
        </p:nvSpPr>
        <p:spPr>
          <a:xfrm>
            <a:off x="815975" y="2882205"/>
            <a:ext cx="10560050" cy="595610"/>
          </a:xfrm>
          <a:prstGeom prst="roundRect">
            <a:avLst>
              <a:gd name="adj" fmla="val 16525"/>
            </a:avLst>
          </a:prstGeom>
          <a:solidFill>
            <a:srgbClr val="FFFFFF"/>
          </a:solidFill>
          <a:ln w="6350">
            <a:solidFill>
              <a:srgbClr val="DCE0DA"/>
            </a:solidFill>
            <a:prstDash val="solid"/>
          </a:ln>
        </p:spPr>
      </p:sp>
      <p:sp>
        <p:nvSpPr>
          <p:cNvPr id="10" name="Text 8"/>
          <p:cNvSpPr/>
          <p:nvPr/>
        </p:nvSpPr>
        <p:spPr>
          <a:xfrm>
            <a:off x="1022350" y="303778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EB"/>
                </a:solidFill>
                <a:latin typeface="IBM Plex Sans" pitchFamily="34" charset="0"/>
                <a:ea typeface="IBM Plex Sans" pitchFamily="34" charset="-122"/>
                <a:cs typeface="IBM Plex Sans" pitchFamily="34" charset="-120"/>
              </a:rPr>
              <a:t>3</a:t>
            </a:r>
            <a:endParaRPr lang="en-US" sz="1600" dirty="0"/>
          </a:p>
        </p:txBody>
      </p:sp>
      <p:sp>
        <p:nvSpPr>
          <p:cNvPr id="11" name="Text 9"/>
          <p:cNvSpPr/>
          <p:nvPr/>
        </p:nvSpPr>
        <p:spPr>
          <a:xfrm>
            <a:off x="1555750" y="3064470"/>
            <a:ext cx="717518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Postman (entorno Docker Compose): catálogo responde normal, circuito CLOSED</a:t>
            </a:r>
            <a:endParaRPr lang="en-US" sz="1300" dirty="0"/>
          </a:p>
        </p:txBody>
      </p:sp>
      <p:sp>
        <p:nvSpPr>
          <p:cNvPr id="12" name="Shape 10"/>
          <p:cNvSpPr/>
          <p:nvPr/>
        </p:nvSpPr>
        <p:spPr>
          <a:xfrm>
            <a:off x="815975" y="3611166"/>
            <a:ext cx="10560050" cy="595610"/>
          </a:xfrm>
          <a:prstGeom prst="roundRect">
            <a:avLst>
              <a:gd name="adj" fmla="val 16525"/>
            </a:avLst>
          </a:prstGeom>
          <a:solidFill>
            <a:srgbClr val="FFFFFF"/>
          </a:solidFill>
          <a:ln w="6350">
            <a:solidFill>
              <a:srgbClr val="DCE0DA"/>
            </a:solidFill>
            <a:prstDash val="solid"/>
          </a:ln>
        </p:spPr>
      </p:sp>
      <p:sp>
        <p:nvSpPr>
          <p:cNvPr id="13" name="Text 11"/>
          <p:cNvSpPr/>
          <p:nvPr/>
        </p:nvSpPr>
        <p:spPr>
          <a:xfrm>
            <a:off x="1022350" y="3766741"/>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7706"/>
                </a:solidFill>
                <a:latin typeface="IBM Plex Sans" pitchFamily="34" charset="0"/>
                <a:ea typeface="IBM Plex Sans" pitchFamily="34" charset="-122"/>
                <a:cs typeface="IBM Plex Sans" pitchFamily="34" charset="-120"/>
              </a:rPr>
              <a:t>4</a:t>
            </a:r>
            <a:endParaRPr lang="en-US" sz="1600" dirty="0"/>
          </a:p>
        </p:txBody>
      </p:sp>
      <p:sp>
        <p:nvSpPr>
          <p:cNvPr id="14" name="Text 12"/>
          <p:cNvSpPr/>
          <p:nvPr/>
        </p:nvSpPr>
        <p:spPr>
          <a:xfrm>
            <a:off x="1555750" y="3793430"/>
            <a:ext cx="7977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docker compose stop course-service → Postman muestra el fallback y el circuito en OPEN</a:t>
            </a:r>
            <a:endParaRPr lang="en-US" sz="1300" dirty="0"/>
          </a:p>
        </p:txBody>
      </p:sp>
      <p:sp>
        <p:nvSpPr>
          <p:cNvPr id="15" name="Shape 13"/>
          <p:cNvSpPr/>
          <p:nvPr/>
        </p:nvSpPr>
        <p:spPr>
          <a:xfrm>
            <a:off x="815975" y="4340126"/>
            <a:ext cx="10560050" cy="595610"/>
          </a:xfrm>
          <a:prstGeom prst="roundRect">
            <a:avLst>
              <a:gd name="adj" fmla="val 16525"/>
            </a:avLst>
          </a:prstGeom>
          <a:solidFill>
            <a:srgbClr val="FFFFFF"/>
          </a:solidFill>
          <a:ln w="6350">
            <a:solidFill>
              <a:srgbClr val="DCE0DA"/>
            </a:solidFill>
            <a:prstDash val="solid"/>
          </a:ln>
        </p:spPr>
      </p:sp>
      <p:sp>
        <p:nvSpPr>
          <p:cNvPr id="16" name="Text 14"/>
          <p:cNvSpPr/>
          <p:nvPr/>
        </p:nvSpPr>
        <p:spPr>
          <a:xfrm>
            <a:off x="1022350" y="4495701"/>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EB"/>
                </a:solidFill>
                <a:latin typeface="IBM Plex Sans" pitchFamily="34" charset="0"/>
                <a:ea typeface="IBM Plex Sans" pitchFamily="34" charset="-122"/>
                <a:cs typeface="IBM Plex Sans" pitchFamily="34" charset="-120"/>
              </a:rPr>
              <a:t>5</a:t>
            </a:r>
            <a:endParaRPr lang="en-US" sz="1600" dirty="0"/>
          </a:p>
        </p:txBody>
      </p:sp>
      <p:sp>
        <p:nvSpPr>
          <p:cNvPr id="17" name="Text 15"/>
          <p:cNvSpPr/>
          <p:nvPr/>
        </p:nvSpPr>
        <p:spPr>
          <a:xfrm>
            <a:off x="1555750" y="4522391"/>
            <a:ext cx="88589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61C"/>
                </a:solidFill>
                <a:latin typeface="IBM Plex Sans" pitchFamily="34" charset="0"/>
                <a:ea typeface="IBM Plex Sans" pitchFamily="34" charset="-122"/>
                <a:cs typeface="IBM Plex Sans" pitchFamily="34" charset="-120"/>
              </a:rPr>
              <a:t>docker compose start course-service → recuperación automática (OPEN → HALF_OPEN → CLOSED)</a:t>
            </a:r>
            <a:endParaRPr lang="en-US" sz="1300" dirty="0"/>
          </a:p>
        </p:txBody>
      </p:sp>
      <p:sp>
        <p:nvSpPr>
          <p:cNvPr id="18" name="Text 16"/>
          <p:cNvSpPr/>
          <p:nvPr/>
        </p:nvSpPr>
        <p:spPr>
          <a:xfrm>
            <a:off x="812800" y="6238280"/>
            <a:ext cx="40109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Guion completo en docs/guion-demo.md · 5 de 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7F4"/>
                </a:solidFill>
                <a:latin typeface="IBM Plex Sans" pitchFamily="34" charset="0"/>
                <a:ea typeface="IBM Plex Sans" pitchFamily="34" charset="-122"/>
                <a:cs typeface="IBM Plex Sans" pitchFamily="34" charset="-120"/>
              </a:rPr>
              <a:t>Conclusiones</a:t>
            </a:r>
            <a:endParaRPr lang="en-US" sz="3200" dirty="0"/>
          </a:p>
        </p:txBody>
      </p:sp>
      <p:sp>
        <p:nvSpPr>
          <p:cNvPr id="3" name="Text 1"/>
          <p:cNvSpPr/>
          <p:nvPr/>
        </p:nvSpPr>
        <p:spPr>
          <a:xfrm>
            <a:off x="870458" y="2723059"/>
            <a:ext cx="10818114" cy="1325563"/>
          </a:xfrm>
          <a:prstGeom prst="rect">
            <a:avLst/>
          </a:prstGeom>
          <a:noFill/>
          <a:ln/>
        </p:spPr>
        <p:txBody>
          <a:bodyPr wrap="square" lIns="0" tIns="0" rIns="0" bIns="0" rtlCol="0" anchor="t">
            <a:normAutofit/>
          </a:bodyPr>
          <a:lstStyle/>
          <a:p>
            <a:pPr algn="l" marL="196342" indent="-196342">
              <a:lnSpc>
                <a:spcPts val="2560"/>
              </a:lnSpc>
              <a:buSzPct val="100000"/>
              <a:buChar char="•"/>
            </a:pPr>
            <a:r>
              <a:rPr lang="en-US" sz="1600" dirty="0">
                <a:solidFill>
                  <a:srgbClr val="B9C2CC"/>
                </a:solidFill>
                <a:latin typeface="IBM Plex Sans" pitchFamily="34" charset="0"/>
                <a:ea typeface="IBM Plex Sans" pitchFamily="34" charset="-122"/>
                <a:cs typeface="IBM Plex Sans" pitchFamily="34" charset="-120"/>
              </a:rPr>
              <a:t>Service Discovery: el catálogo nunca “supo” dónde vivía course; lo preguntó.</a:t>
            </a:r>
            <a:endParaRPr lang="en-US" sz="1600" dirty="0"/>
          </a:p>
          <a:p>
            <a:pPr algn="l" marL="196342" indent="-196342">
              <a:lnSpc>
                <a:spcPts val="2560"/>
              </a:lnSpc>
              <a:buSzPct val="100000"/>
              <a:buChar char="•"/>
            </a:pPr>
            <a:r>
              <a:rPr lang="en-US" sz="1600" dirty="0">
                <a:solidFill>
                  <a:srgbClr val="B9C2CC"/>
                </a:solidFill>
                <a:latin typeface="IBM Plex Sans" pitchFamily="34" charset="0"/>
                <a:ea typeface="IBM Plex Sans" pitchFamily="34" charset="-122"/>
                <a:cs typeface="IBM Plex Sans" pitchFamily="34" charset="-120"/>
              </a:rPr>
              <a:t>Sin resiliencia, una caída se propaga en cascada.</a:t>
            </a:r>
            <a:endParaRPr lang="en-US" sz="1600" dirty="0"/>
          </a:p>
          <a:p>
            <a:pPr algn="l" marL="196342" indent="-196342">
              <a:lnSpc>
                <a:spcPts val="2560"/>
              </a:lnSpc>
              <a:buSzPct val="100000"/>
              <a:buChar char="•"/>
            </a:pPr>
            <a:r>
              <a:rPr lang="en-US" sz="1600" dirty="0">
                <a:solidFill>
                  <a:srgbClr val="B9C2CC"/>
                </a:solidFill>
                <a:latin typeface="IBM Plex Sans" pitchFamily="34" charset="0"/>
                <a:ea typeface="IBM Plex Sans" pitchFamily="34" charset="-122"/>
                <a:cs typeface="IBM Plex Sans" pitchFamily="34" charset="-120"/>
              </a:rPr>
              <a:t>Con Resilience4j: se contiene, se reintenta, se corta y se limita la carga — sin esperar para siempre.</a:t>
            </a:r>
            <a:endParaRPr lang="en-US" sz="1600" dirty="0"/>
          </a:p>
          <a:p>
            <a:pPr algn="l" marL="196342" indent="-196342">
              <a:lnSpc>
                <a:spcPts val="2560"/>
              </a:lnSpc>
              <a:buSzPct val="100000"/>
              <a:buChar char="•"/>
            </a:pPr>
            <a:r>
              <a:rPr lang="en-US" sz="1600" dirty="0">
                <a:solidFill>
                  <a:srgbClr val="B9C2CC"/>
                </a:solidFill>
                <a:latin typeface="IBM Plex Sans" pitchFamily="34" charset="0"/>
                <a:ea typeface="IBM Plex Sans" pitchFamily="34" charset="-122"/>
                <a:cs typeface="IBM Plex Sans" pitchFamily="34" charset="-120"/>
              </a:rPr>
              <a:t>Todo es observable en Actuator: no es una caja negra.</a:t>
            </a:r>
            <a:endParaRPr lang="en-US" sz="1600" dirty="0"/>
          </a:p>
        </p:txBody>
      </p:sp>
      <p:sp>
        <p:nvSpPr>
          <p:cNvPr id="4" name="Text 2"/>
          <p:cNvSpPr/>
          <p:nvPr>
            <p:ph type="title"/>
          </p:nvPr>
        </p:nvSpPr>
        <p:spPr>
          <a:xfrm>
            <a:off x="812800" y="5486400"/>
            <a:ext cx="3533894"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D97706"/>
                </a:solidFill>
                <a:latin typeface="IBM Plex Sans" pitchFamily="34" charset="0"/>
                <a:ea typeface="IBM Plex Sans" pitchFamily="34" charset="-122"/>
                <a:cs typeface="IBM Plex Sans" pitchFamily="34" charset="-120"/>
              </a:rPr>
              <a:t>¿Preguntas?</a:t>
            </a:r>
            <a:endParaRPr lang="en-US" sz="4000" dirty="0"/>
          </a:p>
        </p:txBody>
      </p:sp>
      <p:sp>
        <p:nvSpPr>
          <p:cNvPr id="5" name="Text 3"/>
          <p:cNvSpPr/>
          <p:nvPr/>
        </p:nvSpPr>
        <p:spPr>
          <a:xfrm>
            <a:off x="9172019" y="5831880"/>
            <a:ext cx="220718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IBM Plex Sans" pitchFamily="34" charset="0"/>
                <a:ea typeface="IBM Plex Sans" pitchFamily="34" charset="-122"/>
                <a:cs typeface="IBM Plex Sans" pitchFamily="34" charset="-120"/>
              </a:rPr>
              <a:t>FutureX · Universidad Icesi</a:t>
            </a:r>
            <a:endParaRPr lang="en-US" sz="1200" dirty="0"/>
          </a:p>
        </p:txBody>
      </p:sp>
    </p:spTree>
  </p:cSld>
  <p:clrMapOvr>
    <a:masterClrMapping/>
  </p:clrMapOvr>
</p:sld>
</file>

<file path=ppt/theme/theme1.xml><?xml version="1.0" encoding="utf-8"?>
<a:theme xmlns:a="http://schemas.openxmlformats.org/drawingml/2006/main" name="Service Discovery y Circuit Breaker — FutureX">
  <a:themeElements>
    <a:clrScheme name="Service Discovery y Circuit Breaker — FutureX">
      <a:dk1>
        <a:srgbClr val="12161C"/>
      </a:dk1>
      <a:lt1>
        <a:srgbClr val="F7F7F4"/>
      </a:lt1>
      <a:dk2>
        <a:srgbClr val="4B4E52"/>
      </a:dk2>
      <a:lt2>
        <a:srgbClr val="E0E1DE"/>
      </a:lt2>
      <a:accent1>
        <a:srgbClr val="D97706"/>
      </a:accent1>
      <a:accent2>
        <a:srgbClr val="2563EB"/>
      </a:accent2>
      <a:accent3>
        <a:srgbClr val="4A5568"/>
      </a:accent3>
      <a:accent4>
        <a:srgbClr val="B9C2CC"/>
      </a:accent4>
      <a:accent5>
        <a:srgbClr val="DCE0DA"/>
      </a:accent5>
      <a:accent6>
        <a:srgbClr val="9AA0A6"/>
      </a:accent6>
      <a:hlink>
        <a:srgbClr val="0563C1"/>
      </a:hlink>
      <a:folHlink>
        <a:srgbClr val="954F72"/>
      </a:folHlink>
    </a:clrScheme>
    <a:fontScheme name="Service Discovery y Circuit Breaker — FutureX">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Discovery y Circuit Breaker — FutureX</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2026-10-26T19:56:27Z</dcterms:created>
  <dcterms:modified xsi:type="dcterms:W3CDTF">2026-10-26T19:56:27Z</dcterms:modified>
</cp:coreProperties>
</file>